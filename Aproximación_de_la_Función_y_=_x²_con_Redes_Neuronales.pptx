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92960" y="1138033"/>
            <a:ext cx="6158052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Aproximación de la Función</a:t>
            </a:r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00D9FF"/>
                </a:solidFill>
              </a:rPr>
              <a:t>y = x²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492960" y="2449581"/>
            <a:ext cx="6158052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E8E8E8"/>
                </a:solidFill>
              </a:rPr>
              <a:t>Implementación con Redes Neuronales y TensorFlow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2278996" y="3341098"/>
            <a:ext cx="4585953" cy="664369"/>
          </a:xfrm>
          <a:prstGeom prst="rect">
            <a:avLst/>
          </a:prstGeom>
          <a:solidFill>
            <a:srgbClr val="00D9FF">
              <a:alpha val="10000"/>
            </a:srgbClr>
          </a:solidFill>
          <a:ln w="9144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14740" y="3462542"/>
            <a:ext cx="411446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7B2CBF"/>
                </a:solidFill>
              </a:rPr>
              <a:t>📊</a:t>
            </a:r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E8E8"/>
                </a:solidFill>
              </a:rPr>
              <a:t> Proyecto de Machine Learning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514740" y="3712573"/>
            <a:ext cx="41144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github.com/omardmerinoo-commits/tensorflow-aproximacion-cuadratica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124539" y="3541123"/>
            <a:ext cx="8948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B2CBF"/>
                </a:solidFill>
              </a:rPr>
              <a:t>Noviembre 2025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El Aprendizaje de Funciones No Lineales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742950" y="1185974"/>
            <a:ext cx="36147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Las redes neuronales pueden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aproximar cualquier función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continua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según el Teorema de Aproximación Universal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742950" y="1740284"/>
            <a:ext cx="36147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La función cuadrática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7B2CBF"/>
                </a:solidFill>
              </a:rPr>
              <a:t>y = x²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es un caso de estudio ideal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para validar capacidades de aproximación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42950" y="2294595"/>
            <a:ext cx="36147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Objetivo: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Demostrar que una red neuronal simple puede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aprender relaciones matemáticas complejas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742950" y="2848905"/>
            <a:ext cx="36147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Aplicaciones prácticas en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7B2CBF"/>
                </a:solidFill>
              </a:rPr>
              <a:t>física, economía, ingeniería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y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modelado de fenómenos naturales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42950" y="3403216"/>
            <a:ext cx="36147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Este proyecto sirve como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base para problemas más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complejos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de regresión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964906" y="1143000"/>
            <a:ext cx="3429000" cy="2857500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781" y="1285875"/>
            <a:ext cx="314325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Objetivos del Proyecto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571500" y="1214438"/>
            <a:ext cx="8001000" cy="2421731"/>
          </a:xfrm>
          <a:prstGeom prst="rect">
            <a:avLst/>
          </a:prstGeom>
          <a:solidFill>
            <a:srgbClr val="00D9FF">
              <a:alpha val="3000"/>
            </a:srgbClr>
          </a:solidFill>
          <a:ln w="9144">
            <a:solidFill>
              <a:srgbClr val="00D9FF">
                <a:alpha val="1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428750"/>
            <a:ext cx="7572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Objetivos Principales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785813" y="1864519"/>
            <a:ext cx="228600" cy="228600"/>
          </a:xfrm>
          <a:prstGeom prst="rect">
            <a:avLst/>
          </a:prstGeom>
          <a:solidFill>
            <a:srgbClr val="00D9FF">
              <a:alpha val="1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5813" y="18645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1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1128713" y="1864519"/>
            <a:ext cx="33361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Diseñar e implementar una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clase modular en Python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para encapsular toda la lógica del modelo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785813" y="2378869"/>
            <a:ext cx="228600" cy="228600"/>
          </a:xfrm>
          <a:prstGeom prst="rect">
            <a:avLst/>
          </a:prstGeom>
          <a:solidFill>
            <a:srgbClr val="00D9FF">
              <a:alpha val="1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5813" y="237886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2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1128713" y="2378869"/>
            <a:ext cx="33361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Construir una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red neuronal con TensorFlow/Keras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capaz de aproximar y = x²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785813" y="2893219"/>
            <a:ext cx="228600" cy="228600"/>
          </a:xfrm>
          <a:prstGeom prst="rect">
            <a:avLst/>
          </a:prstGeom>
          <a:solidFill>
            <a:srgbClr val="00D9FF">
              <a:alpha val="1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5813" y="28932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3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1128713" y="2893219"/>
            <a:ext cx="33361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Entrenar el modelo con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datos sintéticos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y validar su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rendimiento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679156" y="1864519"/>
            <a:ext cx="228600" cy="228600"/>
          </a:xfrm>
          <a:prstGeom prst="rect">
            <a:avLst/>
          </a:prstGeom>
          <a:solidFill>
            <a:srgbClr val="00D9FF">
              <a:alpha val="1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79156" y="18645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4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5022056" y="1864519"/>
            <a:ext cx="33361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Crear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visualizaciones profesionales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de predicciones y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curvas de aprendizaje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679156" y="2378869"/>
            <a:ext cx="228600" cy="228600"/>
          </a:xfrm>
          <a:prstGeom prst="rect">
            <a:avLst/>
          </a:prstGeom>
          <a:solidFill>
            <a:srgbClr val="00D9FF">
              <a:alpha val="1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79156" y="237886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5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5022056" y="2378869"/>
            <a:ext cx="33361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Implementar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persistencia del modelo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en múltiples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formatos (.h5 y .pkl)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571500" y="3836194"/>
            <a:ext cx="8001000" cy="1450181"/>
          </a:xfrm>
          <a:prstGeom prst="rect">
            <a:avLst/>
          </a:prstGeom>
          <a:solidFill>
            <a:srgbClr val="00D9FF">
              <a:alpha val="3000"/>
            </a:srgbClr>
          </a:solidFill>
          <a:ln w="9144">
            <a:solidFill>
              <a:srgbClr val="00D9FF">
                <a:alpha val="1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5813" y="4050506"/>
            <a:ext cx="7572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7B2CBF"/>
                </a:solidFill>
              </a:rPr>
              <a:t>Objetivos Secundarios</a:t>
            </a:r>
            <a:endParaRPr lang="en-US" sz="1193" dirty="0"/>
          </a:p>
        </p:txBody>
      </p:sp>
      <p:sp>
        <p:nvSpPr>
          <p:cNvPr id="23" name="Shape 20"/>
          <p:cNvSpPr/>
          <p:nvPr/>
        </p:nvSpPr>
        <p:spPr>
          <a:xfrm>
            <a:off x="785813" y="4486275"/>
            <a:ext cx="1785938" cy="571500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85813" y="4486275"/>
            <a:ext cx="21431" cy="57150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25" name="Text 22"/>
          <p:cNvSpPr/>
          <p:nvPr/>
        </p:nvSpPr>
        <p:spPr>
          <a:xfrm>
            <a:off x="900113" y="4600575"/>
            <a:ext cx="155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Suite completa de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tests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automatizados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2714625" y="4486275"/>
            <a:ext cx="1785938" cy="571500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714625" y="4486275"/>
            <a:ext cx="21431" cy="57150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28" name="Text 25"/>
          <p:cNvSpPr/>
          <p:nvPr/>
        </p:nvSpPr>
        <p:spPr>
          <a:xfrm>
            <a:off x="2828925" y="4600575"/>
            <a:ext cx="155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Documentación exhaustiva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 y ejemplos de uso</a:t>
            </a:r>
            <a:endParaRPr lang="en-US" sz="784" dirty="0"/>
          </a:p>
        </p:txBody>
      </p:sp>
      <p:sp>
        <p:nvSpPr>
          <p:cNvPr id="29" name="Shape 26"/>
          <p:cNvSpPr/>
          <p:nvPr/>
        </p:nvSpPr>
        <p:spPr>
          <a:xfrm>
            <a:off x="4643438" y="4486275"/>
            <a:ext cx="1785938" cy="571500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643438" y="4486275"/>
            <a:ext cx="21431" cy="57150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31" name="Text 28"/>
          <p:cNvSpPr/>
          <p:nvPr/>
        </p:nvSpPr>
        <p:spPr>
          <a:xfrm>
            <a:off x="4757738" y="4600575"/>
            <a:ext cx="155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Garantizar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reproducibilidad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total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 de resultados</a:t>
            </a:r>
            <a:endParaRPr lang="en-US" sz="834" dirty="0"/>
          </a:p>
        </p:txBody>
      </p:sp>
      <p:sp>
        <p:nvSpPr>
          <p:cNvPr id="32" name="Shape 29"/>
          <p:cNvSpPr/>
          <p:nvPr/>
        </p:nvSpPr>
        <p:spPr>
          <a:xfrm>
            <a:off x="6572250" y="4486275"/>
            <a:ext cx="1785938" cy="571500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572250" y="4486275"/>
            <a:ext cx="21431" cy="57150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34" name="Text 31"/>
          <p:cNvSpPr/>
          <p:nvPr/>
        </p:nvSpPr>
        <p:spPr>
          <a:xfrm>
            <a:off x="6686550" y="4600575"/>
            <a:ext cx="155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Seguir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estándares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profesionales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 de ingeniería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763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Generación de Datos Sintéticos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178719"/>
            <a:ext cx="8001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Proceso de Generación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1614488"/>
            <a:ext cx="1514475" cy="1064419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4375" y="1507331"/>
            <a:ext cx="302158" cy="2500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507331"/>
            <a:ext cx="302158" cy="250031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0B2E"/>
                </a:solidFill>
              </a:rPr>
              <a:t>1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14375" y="1828800"/>
            <a:ext cx="12287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Muestreo Uniforme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714375" y="2057400"/>
            <a:ext cx="12287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1000 valores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de x en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el rango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[-1, 1]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2193131" y="1614488"/>
            <a:ext cx="1514475" cy="1064419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36006" y="1507331"/>
            <a:ext cx="302158" cy="2500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2" name="Text 9"/>
          <p:cNvSpPr/>
          <p:nvPr/>
        </p:nvSpPr>
        <p:spPr>
          <a:xfrm>
            <a:off x="2336006" y="1507331"/>
            <a:ext cx="302158" cy="250031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0B2E"/>
                </a:solidFill>
              </a:rPr>
              <a:t>2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336006" y="1828800"/>
            <a:ext cx="12287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Cálculo de y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2336006" y="2057400"/>
            <a:ext cx="12287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Aplicar función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cuadrática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y = x²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3814763" y="1614488"/>
            <a:ext cx="1514475" cy="1064419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57638" y="1507331"/>
            <a:ext cx="302158" cy="2500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3957638" y="1507331"/>
            <a:ext cx="302158" cy="250031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0B2E"/>
                </a:solidFill>
              </a:rPr>
              <a:t>3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3957638" y="1828800"/>
            <a:ext cx="12287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Adición de Ruido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3957638" y="2057400"/>
            <a:ext cx="12287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Ruido gaussiano con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σ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= 0.02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5436394" y="1614488"/>
            <a:ext cx="1514475" cy="1064419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79269" y="1507331"/>
            <a:ext cx="302158" cy="2500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2" name="Text 19"/>
          <p:cNvSpPr/>
          <p:nvPr/>
        </p:nvSpPr>
        <p:spPr>
          <a:xfrm>
            <a:off x="5579269" y="1507331"/>
            <a:ext cx="302158" cy="250031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0B2E"/>
                </a:solidFill>
              </a:rPr>
              <a:t>4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5579269" y="1828800"/>
            <a:ext cx="12287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División de Datos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5579269" y="2057400"/>
            <a:ext cx="12287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80%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entrenamiento,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20%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prueba</a:t>
            </a:r>
            <a:endParaRPr lang="en-US" sz="683" dirty="0"/>
          </a:p>
        </p:txBody>
      </p:sp>
      <p:sp>
        <p:nvSpPr>
          <p:cNvPr id="25" name="Shape 22"/>
          <p:cNvSpPr/>
          <p:nvPr/>
        </p:nvSpPr>
        <p:spPr>
          <a:xfrm>
            <a:off x="7058025" y="1614488"/>
            <a:ext cx="1514475" cy="1064419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00900" y="1507331"/>
            <a:ext cx="302158" cy="2500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7" name="Text 24"/>
          <p:cNvSpPr/>
          <p:nvPr/>
        </p:nvSpPr>
        <p:spPr>
          <a:xfrm>
            <a:off x="7200900" y="1507331"/>
            <a:ext cx="302158" cy="250031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0B2E"/>
                </a:solidFill>
              </a:rPr>
              <a:t>5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7200900" y="1828800"/>
            <a:ext cx="12287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Validación Cruzada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7200900" y="2057400"/>
            <a:ext cx="12287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20%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del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entrenamiento para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validación</a:t>
            </a:r>
            <a:endParaRPr lang="en-US" sz="683" dirty="0"/>
          </a:p>
        </p:txBody>
      </p:sp>
      <p:sp>
        <p:nvSpPr>
          <p:cNvPr id="30" name="Shape 27"/>
          <p:cNvSpPr/>
          <p:nvPr/>
        </p:nvSpPr>
        <p:spPr>
          <a:xfrm>
            <a:off x="571500" y="2936081"/>
            <a:ext cx="8001000" cy="1633017"/>
          </a:xfrm>
          <a:prstGeom prst="rect">
            <a:avLst/>
          </a:prstGeom>
          <a:solidFill>
            <a:srgbClr val="7B2CBF">
              <a:alpha val="8000"/>
            </a:srgbClr>
          </a:solidFill>
          <a:ln w="18288">
            <a:solidFill>
              <a:srgbClr val="7B2CBF">
                <a:alpha val="3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1531" y="3186113"/>
            <a:ext cx="75009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7B2CBF"/>
                </a:solidFill>
              </a:rPr>
              <a:t>Justificación del Ruido Gaussiano</a:t>
            </a:r>
            <a:endParaRPr lang="en-US" sz="1193" dirty="0"/>
          </a:p>
        </p:txBody>
      </p:sp>
      <p:sp>
        <p:nvSpPr>
          <p:cNvPr id="32" name="Text 29"/>
          <p:cNvSpPr/>
          <p:nvPr/>
        </p:nvSpPr>
        <p:spPr>
          <a:xfrm>
            <a:off x="964406" y="3621881"/>
            <a:ext cx="322205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Simula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errores de medición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en datos experimentales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964406" y="3956186"/>
            <a:ext cx="278754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Previene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sobreajuste perfecto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a datos ideales</a:t>
            </a:r>
            <a:endParaRPr lang="en-US" sz="942" dirty="0"/>
          </a:p>
        </p:txBody>
      </p:sp>
      <p:sp>
        <p:nvSpPr>
          <p:cNvPr id="34" name="Text 31"/>
          <p:cNvSpPr/>
          <p:nvPr/>
        </p:nvSpPr>
        <p:spPr>
          <a:xfrm>
            <a:off x="4822031" y="3621881"/>
            <a:ext cx="272827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Hace el modelo más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robusto y generalizable</a:t>
            </a:r>
            <a:endParaRPr lang="en-US" sz="942" dirty="0"/>
          </a:p>
        </p:txBody>
      </p:sp>
      <p:sp>
        <p:nvSpPr>
          <p:cNvPr id="35" name="Text 32"/>
          <p:cNvSpPr/>
          <p:nvPr/>
        </p:nvSpPr>
        <p:spPr>
          <a:xfrm>
            <a:off x="4822031" y="3956186"/>
            <a:ext cx="285147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Representa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condiciones realistas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de aplicación</a:t>
            </a:r>
            <a:endParaRPr lang="en-US" sz="942" dirty="0"/>
          </a:p>
        </p:txBody>
      </p:sp>
      <p:sp>
        <p:nvSpPr>
          <p:cNvPr id="36" name="Text 33"/>
          <p:cNvSpPr/>
          <p:nvPr/>
        </p:nvSpPr>
        <p:spPr>
          <a:xfrm>
            <a:off x="957123" y="4754835"/>
            <a:ext cx="8513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7B2CBF"/>
                </a:solidFill>
              </a:rPr>
              <a:t>TOTAL MUESTRAS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957123" y="4947717"/>
            <a:ext cx="8513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1000</a:t>
            </a:r>
            <a:endParaRPr lang="en-US" sz="1602" dirty="0"/>
          </a:p>
        </p:txBody>
      </p:sp>
      <p:sp>
        <p:nvSpPr>
          <p:cNvPr id="38" name="Text 35"/>
          <p:cNvSpPr/>
          <p:nvPr/>
        </p:nvSpPr>
        <p:spPr>
          <a:xfrm>
            <a:off x="3365292" y="4754835"/>
            <a:ext cx="858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7B2CBF"/>
                </a:solidFill>
              </a:rPr>
              <a:t>ENTRENAMIENTO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3365292" y="4947717"/>
            <a:ext cx="85803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800</a:t>
            </a:r>
            <a:endParaRPr lang="en-US" sz="1602" dirty="0"/>
          </a:p>
        </p:txBody>
      </p:sp>
      <p:sp>
        <p:nvSpPr>
          <p:cNvPr id="40" name="Text 37"/>
          <p:cNvSpPr/>
          <p:nvPr/>
        </p:nvSpPr>
        <p:spPr>
          <a:xfrm>
            <a:off x="5780159" y="4754835"/>
            <a:ext cx="39229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7B2CBF"/>
                </a:solidFill>
              </a:rPr>
              <a:t>PRUEBA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5780159" y="4947717"/>
            <a:ext cx="39229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200</a:t>
            </a:r>
            <a:endParaRPr lang="en-US" sz="1602" dirty="0"/>
          </a:p>
        </p:txBody>
      </p:sp>
      <p:sp>
        <p:nvSpPr>
          <p:cNvPr id="42" name="Text 39"/>
          <p:cNvSpPr/>
          <p:nvPr/>
        </p:nvSpPr>
        <p:spPr>
          <a:xfrm>
            <a:off x="7729286" y="4754835"/>
            <a:ext cx="45745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7B2CBF"/>
                </a:solidFill>
              </a:rPr>
              <a:t>RUIDO σ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7729286" y="4947717"/>
            <a:ext cx="45745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0.02</a:t>
            </a:r>
            <a:endParaRPr lang="en-US" sz="160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00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Arquitectura de la Red Neuronal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578644" y="1114425"/>
            <a:ext cx="673187" cy="385763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8644" y="1485900"/>
            <a:ext cx="673187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/>
          <p:cNvSpPr/>
          <p:nvPr/>
        </p:nvSpPr>
        <p:spPr>
          <a:xfrm>
            <a:off x="578644" y="1114425"/>
            <a:ext cx="673187" cy="38576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Capa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1251831" y="1114425"/>
            <a:ext cx="785478" cy="385763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251831" y="1485900"/>
            <a:ext cx="785478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6"/>
          <p:cNvSpPr/>
          <p:nvPr/>
        </p:nvSpPr>
        <p:spPr>
          <a:xfrm>
            <a:off x="1251831" y="1114425"/>
            <a:ext cx="785478" cy="38576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Neuronas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2037308" y="1114425"/>
            <a:ext cx="824238" cy="385763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037308" y="1485900"/>
            <a:ext cx="824238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2" name="Text 9"/>
          <p:cNvSpPr/>
          <p:nvPr/>
        </p:nvSpPr>
        <p:spPr>
          <a:xfrm>
            <a:off x="2037308" y="1114425"/>
            <a:ext cx="824238" cy="38576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Activación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2861546" y="1114425"/>
            <a:ext cx="894643" cy="385763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861546" y="1485900"/>
            <a:ext cx="894643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2861546" y="1114425"/>
            <a:ext cx="894643" cy="38576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Parámetros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3756189" y="1114425"/>
            <a:ext cx="1163399" cy="385763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756189" y="1485900"/>
            <a:ext cx="1163399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8" name="Text 15"/>
          <p:cNvSpPr/>
          <p:nvPr/>
        </p:nvSpPr>
        <p:spPr>
          <a:xfrm>
            <a:off x="3756189" y="1114425"/>
            <a:ext cx="1163399" cy="38576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Función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700088" y="1585913"/>
            <a:ext cx="4374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Entrada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1251831" y="1493044"/>
            <a:ext cx="785478" cy="34647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1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2037308" y="1493044"/>
            <a:ext cx="824238" cy="34647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—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2861546" y="1493044"/>
            <a:ext cx="894643" cy="34647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0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3756189" y="1493044"/>
            <a:ext cx="1163399" cy="34647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Recibe valor x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700088" y="1935956"/>
            <a:ext cx="367373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Oculta 1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1251831" y="1839516"/>
            <a:ext cx="785478" cy="5214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64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2037308" y="1839516"/>
            <a:ext cx="824238" cy="5214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ReLU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2861546" y="1839516"/>
            <a:ext cx="894643" cy="5214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128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3756189" y="1839516"/>
            <a:ext cx="1163399" cy="5214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Extrae características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700088" y="2457450"/>
            <a:ext cx="367373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Oculta 2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1251831" y="2361009"/>
            <a:ext cx="785478" cy="5214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64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2037308" y="2361009"/>
            <a:ext cx="824238" cy="5214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ReLU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2861546" y="2361009"/>
            <a:ext cx="894643" cy="5214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4,160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3756189" y="2361009"/>
            <a:ext cx="1163399" cy="5214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Refina representaciones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700088" y="3064669"/>
            <a:ext cx="3344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Salida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1251831" y="2882503"/>
            <a:ext cx="785478" cy="5214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1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2037308" y="2882503"/>
            <a:ext cx="824238" cy="5214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Linear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2861546" y="2882503"/>
            <a:ext cx="894643" cy="5214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65</a:t>
            </a:r>
            <a:endParaRPr lang="en-US" sz="834" dirty="0"/>
          </a:p>
        </p:txBody>
      </p:sp>
      <p:sp>
        <p:nvSpPr>
          <p:cNvPr id="38" name="Text 35"/>
          <p:cNvSpPr/>
          <p:nvPr/>
        </p:nvSpPr>
        <p:spPr>
          <a:xfrm>
            <a:off x="3756189" y="2882503"/>
            <a:ext cx="1163399" cy="5214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Produce predicción y</a:t>
            </a:r>
            <a:endParaRPr lang="en-US" sz="834" dirty="0"/>
          </a:p>
        </p:txBody>
      </p:sp>
      <p:sp>
        <p:nvSpPr>
          <p:cNvPr id="39" name="Shape 36"/>
          <p:cNvSpPr/>
          <p:nvPr/>
        </p:nvSpPr>
        <p:spPr>
          <a:xfrm>
            <a:off x="578644" y="3403997"/>
            <a:ext cx="673187" cy="353616"/>
          </a:xfrm>
          <a:prstGeom prst="rect">
            <a:avLst/>
          </a:prstGeom>
          <a:solidFill>
            <a:srgbClr val="7B2CBF">
              <a:alpha val="1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700088" y="3500438"/>
            <a:ext cx="3464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B2CBF"/>
                </a:solidFill>
              </a:rPr>
              <a:t>TOTAL</a:t>
            </a:r>
            <a:endParaRPr lang="en-US" sz="784" dirty="0"/>
          </a:p>
        </p:txBody>
      </p:sp>
      <p:sp>
        <p:nvSpPr>
          <p:cNvPr id="41" name="Shape 38"/>
          <p:cNvSpPr/>
          <p:nvPr/>
        </p:nvSpPr>
        <p:spPr>
          <a:xfrm>
            <a:off x="1251831" y="3403997"/>
            <a:ext cx="785478" cy="353616"/>
          </a:xfrm>
          <a:prstGeom prst="rect">
            <a:avLst/>
          </a:prstGeom>
          <a:solidFill>
            <a:srgbClr val="7B2CBF">
              <a:alpha val="10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1251831" y="3403997"/>
            <a:ext cx="785478" cy="35361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—</a:t>
            </a:r>
            <a:endParaRPr lang="en-US" sz="784" dirty="0"/>
          </a:p>
        </p:txBody>
      </p:sp>
      <p:sp>
        <p:nvSpPr>
          <p:cNvPr id="43" name="Shape 40"/>
          <p:cNvSpPr/>
          <p:nvPr/>
        </p:nvSpPr>
        <p:spPr>
          <a:xfrm>
            <a:off x="2037308" y="3403997"/>
            <a:ext cx="824238" cy="353616"/>
          </a:xfrm>
          <a:prstGeom prst="rect">
            <a:avLst/>
          </a:prstGeom>
          <a:solidFill>
            <a:srgbClr val="7B2CBF">
              <a:alpha val="1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2037308" y="3403997"/>
            <a:ext cx="824238" cy="35361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—</a:t>
            </a:r>
            <a:endParaRPr lang="en-US" sz="784" dirty="0"/>
          </a:p>
        </p:txBody>
      </p:sp>
      <p:sp>
        <p:nvSpPr>
          <p:cNvPr id="45" name="Shape 42"/>
          <p:cNvSpPr/>
          <p:nvPr/>
        </p:nvSpPr>
        <p:spPr>
          <a:xfrm>
            <a:off x="2861546" y="3403997"/>
            <a:ext cx="894643" cy="353616"/>
          </a:xfrm>
          <a:prstGeom prst="rect">
            <a:avLst/>
          </a:prstGeom>
          <a:solidFill>
            <a:srgbClr val="7B2CBF">
              <a:alpha val="1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2975846" y="3500438"/>
            <a:ext cx="2934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B2CBF"/>
                </a:solidFill>
              </a:rPr>
              <a:t>4,353</a:t>
            </a:r>
            <a:endParaRPr lang="en-US" sz="784" dirty="0"/>
          </a:p>
        </p:txBody>
      </p:sp>
      <p:sp>
        <p:nvSpPr>
          <p:cNvPr id="47" name="Shape 44"/>
          <p:cNvSpPr/>
          <p:nvPr/>
        </p:nvSpPr>
        <p:spPr>
          <a:xfrm>
            <a:off x="3756189" y="3403997"/>
            <a:ext cx="1163399" cy="353616"/>
          </a:xfrm>
          <a:prstGeom prst="rect">
            <a:avLst/>
          </a:prstGeom>
          <a:solidFill>
            <a:srgbClr val="7B2CBF">
              <a:alpha val="10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3756189" y="3403997"/>
            <a:ext cx="1163399" cy="35361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—</a:t>
            </a:r>
            <a:endParaRPr lang="en-US" sz="784" dirty="0"/>
          </a:p>
        </p:txBody>
      </p:sp>
      <p:sp>
        <p:nvSpPr>
          <p:cNvPr id="49" name="Shape 46"/>
          <p:cNvSpPr/>
          <p:nvPr/>
        </p:nvSpPr>
        <p:spPr>
          <a:xfrm>
            <a:off x="5499460" y="1221581"/>
            <a:ext cx="2857500" cy="2428875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616" y="1328738"/>
            <a:ext cx="2643188" cy="2214563"/>
          </a:xfrm>
          <a:prstGeom prst="rect">
            <a:avLst/>
          </a:prstGeom>
        </p:spPr>
      </p:pic>
      <p:sp>
        <p:nvSpPr>
          <p:cNvPr id="51" name="Shape 47"/>
          <p:cNvSpPr/>
          <p:nvPr/>
        </p:nvSpPr>
        <p:spPr>
          <a:xfrm>
            <a:off x="571500" y="4014788"/>
            <a:ext cx="8001000" cy="1543050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52" name="Shape 48"/>
          <p:cNvSpPr/>
          <p:nvPr/>
        </p:nvSpPr>
        <p:spPr>
          <a:xfrm>
            <a:off x="571500" y="4014788"/>
            <a:ext cx="8001000" cy="14288"/>
          </a:xfrm>
          <a:prstGeom prst="rect">
            <a:avLst/>
          </a:prstGeom>
          <a:solidFill>
            <a:srgbClr val="B3F4FF"/>
          </a:solidFill>
          <a:ln/>
        </p:spPr>
      </p:sp>
      <p:sp>
        <p:nvSpPr>
          <p:cNvPr id="53" name="Text 49"/>
          <p:cNvSpPr/>
          <p:nvPr/>
        </p:nvSpPr>
        <p:spPr>
          <a:xfrm>
            <a:off x="785813" y="4193381"/>
            <a:ext cx="7572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Decisiones de Diseño</a:t>
            </a:r>
            <a:endParaRPr lang="en-US" sz="987" dirty="0"/>
          </a:p>
        </p:txBody>
      </p:sp>
      <p:sp>
        <p:nvSpPr>
          <p:cNvPr id="54" name="Text 50"/>
          <p:cNvSpPr/>
          <p:nvPr/>
        </p:nvSpPr>
        <p:spPr>
          <a:xfrm>
            <a:off x="891853" y="4536281"/>
            <a:ext cx="360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ReLU en capas ocultas: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 Introduce no linealidad necesaria para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aproximar funciones complejas</a:t>
            </a:r>
            <a:endParaRPr lang="en-US" sz="784" dirty="0"/>
          </a:p>
        </p:txBody>
      </p:sp>
      <p:sp>
        <p:nvSpPr>
          <p:cNvPr id="55" name="Text 51"/>
          <p:cNvSpPr/>
          <p:nvPr/>
        </p:nvSpPr>
        <p:spPr>
          <a:xfrm>
            <a:off x="4756398" y="4536281"/>
            <a:ext cx="36017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Activación lineal en salida: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 Permite predicciones en todo el rango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real</a:t>
            </a:r>
            <a:endParaRPr lang="en-US" sz="784" dirty="0"/>
          </a:p>
        </p:txBody>
      </p:sp>
      <p:sp>
        <p:nvSpPr>
          <p:cNvPr id="56" name="Text 52"/>
          <p:cNvSpPr/>
          <p:nvPr/>
        </p:nvSpPr>
        <p:spPr>
          <a:xfrm>
            <a:off x="892857" y="5022056"/>
            <a:ext cx="36077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B2CBF"/>
                </a:solidFill>
              </a:rPr>
              <a:t>64 neuronas por capa: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 Balance entre capacidad de aprendizaje y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eficiencia computacional</a:t>
            </a:r>
            <a:endParaRPr lang="en-US" sz="784" dirty="0"/>
          </a:p>
        </p:txBody>
      </p:sp>
      <p:sp>
        <p:nvSpPr>
          <p:cNvPr id="57" name="Text 53"/>
          <p:cNvSpPr/>
          <p:nvPr/>
        </p:nvSpPr>
        <p:spPr>
          <a:xfrm>
            <a:off x="4754500" y="5022056"/>
            <a:ext cx="36036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B2CBF"/>
                </a:solidFill>
              </a:rPr>
              <a:t>2 capas ocultas: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 Suficiente profundidad para capturar la relación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cuadrática</a:t>
            </a:r>
            <a:endParaRPr lang="en-US" sz="7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349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Configuración del Entrenamiento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178719"/>
            <a:ext cx="24764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Hiperparámetros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1578769"/>
            <a:ext cx="2476481" cy="2393156"/>
          </a:xfrm>
          <a:prstGeom prst="rect">
            <a:avLst/>
          </a:prstGeom>
          <a:solidFill>
            <a:srgbClr val="00D9FF">
              <a:alpha val="3000"/>
            </a:srgbClr>
          </a:solidFill>
          <a:ln w="9144">
            <a:solidFill>
              <a:srgbClr val="00D9FF">
                <a:alpha val="1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4375" y="1807369"/>
            <a:ext cx="6711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Optimizador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2579452" y="1807369"/>
            <a:ext cx="3256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Adam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714375" y="2157413"/>
            <a:ext cx="7474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Learning Rate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2611682" y="2157413"/>
            <a:ext cx="2934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0.001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714375" y="2507456"/>
            <a:ext cx="10316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Función de Pérdida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2672265" y="2507456"/>
            <a:ext cx="23284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MSE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714375" y="2857500"/>
            <a:ext cx="4051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Métrica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2658424" y="2857500"/>
            <a:ext cx="2466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MAE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714375" y="3207544"/>
            <a:ext cx="545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Batch Size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2774342" y="3207544"/>
            <a:ext cx="1307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32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714375" y="3557588"/>
            <a:ext cx="8899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Épocas Máximas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2708960" y="3557588"/>
            <a:ext cx="1961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100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3333731" y="1178719"/>
            <a:ext cx="247650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Callbacks</a:t>
            </a:r>
            <a:endParaRPr lang="en-US" sz="1193" dirty="0"/>
          </a:p>
        </p:txBody>
      </p:sp>
      <p:sp>
        <p:nvSpPr>
          <p:cNvPr id="19" name="Shape 16"/>
          <p:cNvSpPr/>
          <p:nvPr/>
        </p:nvSpPr>
        <p:spPr>
          <a:xfrm>
            <a:off x="3333731" y="1578769"/>
            <a:ext cx="2476509" cy="1207294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3333731" y="1578769"/>
            <a:ext cx="21431" cy="120729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1" name="Text 18"/>
          <p:cNvSpPr/>
          <p:nvPr/>
        </p:nvSpPr>
        <p:spPr>
          <a:xfrm>
            <a:off x="3448031" y="1693069"/>
            <a:ext cx="224790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EarlyStopping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3448031" y="1943100"/>
            <a:ext cx="22479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• Monitorea val_loss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3448031" y="2135981"/>
            <a:ext cx="22479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• Paciencia: 15 épocas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3448031" y="2328863"/>
            <a:ext cx="22479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• Restaura mejores pesos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3448031" y="2521744"/>
            <a:ext cx="22479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• Previene sobreentrenamiento</a:t>
            </a:r>
            <a:endParaRPr lang="en-US" sz="727" dirty="0"/>
          </a:p>
        </p:txBody>
      </p:sp>
      <p:sp>
        <p:nvSpPr>
          <p:cNvPr id="26" name="Shape 23"/>
          <p:cNvSpPr/>
          <p:nvPr/>
        </p:nvSpPr>
        <p:spPr>
          <a:xfrm>
            <a:off x="3333731" y="2900363"/>
            <a:ext cx="2476509" cy="1014413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3333731" y="2900363"/>
            <a:ext cx="21431" cy="1014413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8" name="Text 25"/>
          <p:cNvSpPr/>
          <p:nvPr/>
        </p:nvSpPr>
        <p:spPr>
          <a:xfrm>
            <a:off x="3448031" y="3014663"/>
            <a:ext cx="224790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ModelCheckpoint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3448031" y="3264694"/>
            <a:ext cx="22479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• Guarda mejor modelo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3448031" y="3457575"/>
            <a:ext cx="22479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• Criterio: mínima val_loss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3448031" y="3650456"/>
            <a:ext cx="22479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• Recuperación automática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6095991" y="1178719"/>
            <a:ext cx="24764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7B2CBF"/>
                </a:solidFill>
              </a:rPr>
              <a:t>Reproducibilidad</a:t>
            </a:r>
            <a:endParaRPr lang="en-US" sz="1193" dirty="0"/>
          </a:p>
        </p:txBody>
      </p:sp>
      <p:sp>
        <p:nvSpPr>
          <p:cNvPr id="33" name="Shape 30"/>
          <p:cNvSpPr/>
          <p:nvPr/>
        </p:nvSpPr>
        <p:spPr>
          <a:xfrm>
            <a:off x="6095991" y="1578769"/>
            <a:ext cx="2476481" cy="671513"/>
          </a:xfrm>
          <a:prstGeom prst="rect">
            <a:avLst/>
          </a:prstGeom>
          <a:solidFill>
            <a:srgbClr val="7B2CBF">
              <a:alpha val="5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095991" y="1578769"/>
            <a:ext cx="21431" cy="671513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35" name="Text 32"/>
          <p:cNvSpPr/>
          <p:nvPr/>
        </p:nvSpPr>
        <p:spPr>
          <a:xfrm>
            <a:off x="6210291" y="1664494"/>
            <a:ext cx="22478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Semillas Fijas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6210291" y="1864519"/>
            <a:ext cx="22478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numpy.random.seed(42)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6210291" y="2014538"/>
            <a:ext cx="22478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tf.random.set_seed(42)</a:t>
            </a:r>
            <a:endParaRPr lang="en-US" sz="727" dirty="0"/>
          </a:p>
        </p:txBody>
      </p:sp>
      <p:sp>
        <p:nvSpPr>
          <p:cNvPr id="38" name="Shape 35"/>
          <p:cNvSpPr/>
          <p:nvPr/>
        </p:nvSpPr>
        <p:spPr>
          <a:xfrm>
            <a:off x="6095991" y="2336006"/>
            <a:ext cx="2476481" cy="671513"/>
          </a:xfrm>
          <a:prstGeom prst="rect">
            <a:avLst/>
          </a:prstGeom>
          <a:solidFill>
            <a:srgbClr val="7B2CBF">
              <a:alpha val="5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6095991" y="2336006"/>
            <a:ext cx="21431" cy="671513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40" name="Text 37"/>
          <p:cNvSpPr/>
          <p:nvPr/>
        </p:nvSpPr>
        <p:spPr>
          <a:xfrm>
            <a:off x="6210291" y="2421731"/>
            <a:ext cx="22478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Variables de Entorno</a:t>
            </a:r>
            <a:endParaRPr lang="en-US" sz="784" dirty="0"/>
          </a:p>
        </p:txBody>
      </p:sp>
      <p:sp>
        <p:nvSpPr>
          <p:cNvPr id="41" name="Text 38"/>
          <p:cNvSpPr/>
          <p:nvPr/>
        </p:nvSpPr>
        <p:spPr>
          <a:xfrm>
            <a:off x="6210291" y="2621756"/>
            <a:ext cx="22478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PYTHONHASHSEED='42'</a:t>
            </a:r>
            <a:endParaRPr lang="en-US" sz="727" dirty="0"/>
          </a:p>
        </p:txBody>
      </p:sp>
      <p:sp>
        <p:nvSpPr>
          <p:cNvPr id="42" name="Text 39"/>
          <p:cNvSpPr/>
          <p:nvPr/>
        </p:nvSpPr>
        <p:spPr>
          <a:xfrm>
            <a:off x="6210291" y="2771775"/>
            <a:ext cx="22478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TF_DETERMINISTIC_OPS='1'</a:t>
            </a:r>
            <a:endParaRPr lang="en-US" sz="727" dirty="0"/>
          </a:p>
        </p:txBody>
      </p:sp>
      <p:sp>
        <p:nvSpPr>
          <p:cNvPr id="43" name="Shape 40"/>
          <p:cNvSpPr/>
          <p:nvPr/>
        </p:nvSpPr>
        <p:spPr>
          <a:xfrm>
            <a:off x="6095991" y="3093244"/>
            <a:ext cx="2476481" cy="521494"/>
          </a:xfrm>
          <a:prstGeom prst="rect">
            <a:avLst/>
          </a:prstGeom>
          <a:solidFill>
            <a:srgbClr val="7B2CBF">
              <a:alpha val="5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095991" y="3093244"/>
            <a:ext cx="21431" cy="521494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45" name="Text 42"/>
          <p:cNvSpPr/>
          <p:nvPr/>
        </p:nvSpPr>
        <p:spPr>
          <a:xfrm>
            <a:off x="6210291" y="3178969"/>
            <a:ext cx="22478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División de Datos</a:t>
            </a:r>
            <a:endParaRPr lang="en-US" sz="784" dirty="0"/>
          </a:p>
        </p:txBody>
      </p:sp>
      <p:sp>
        <p:nvSpPr>
          <p:cNvPr id="46" name="Text 43"/>
          <p:cNvSpPr/>
          <p:nvPr/>
        </p:nvSpPr>
        <p:spPr>
          <a:xfrm>
            <a:off x="6210291" y="3378994"/>
            <a:ext cx="22478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train_test_split con random_state=42</a:t>
            </a:r>
            <a:endParaRPr lang="en-US" sz="727" dirty="0"/>
          </a:p>
        </p:txBody>
      </p:sp>
      <p:sp>
        <p:nvSpPr>
          <p:cNvPr id="47" name="Shape 44"/>
          <p:cNvSpPr/>
          <p:nvPr/>
        </p:nvSpPr>
        <p:spPr>
          <a:xfrm>
            <a:off x="6095991" y="3757613"/>
            <a:ext cx="2476481" cy="620055"/>
          </a:xfrm>
          <a:prstGeom prst="rect">
            <a:avLst/>
          </a:prstGeom>
          <a:solidFill>
            <a:srgbClr val="7B2CBF">
              <a:alpha val="8000"/>
            </a:srgbClr>
          </a:solidFill>
          <a:ln w="9144">
            <a:solidFill>
              <a:srgbClr val="7B2CBF">
                <a:alpha val="20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210291" y="3871913"/>
            <a:ext cx="22478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7B2CBF"/>
                </a:solidFill>
              </a:rPr>
              <a:t>✓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Resultados consistentes entre ejecuciones</a:t>
            </a:r>
            <a:endParaRPr lang="en-US" sz="683" dirty="0"/>
          </a:p>
        </p:txBody>
      </p:sp>
      <p:sp>
        <p:nvSpPr>
          <p:cNvPr id="49" name="Text 46"/>
          <p:cNvSpPr/>
          <p:nvPr/>
        </p:nvSpPr>
        <p:spPr>
          <a:xfrm>
            <a:off x="6210291" y="4089071"/>
            <a:ext cx="224788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7B2CBF"/>
                </a:solidFill>
              </a:rPr>
              <a:t>✓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Cumplimiento de estándares científicos</a:t>
            </a:r>
            <a:endParaRPr lang="en-US" sz="683" dirty="0"/>
          </a:p>
        </p:txBody>
      </p:sp>
      <p:sp>
        <p:nvSpPr>
          <p:cNvPr id="50" name="Shape 47"/>
          <p:cNvSpPr/>
          <p:nvPr/>
        </p:nvSpPr>
        <p:spPr>
          <a:xfrm>
            <a:off x="571500" y="4577693"/>
            <a:ext cx="8001000" cy="414338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571500" y="4577693"/>
            <a:ext cx="8001000" cy="14288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52" name="Text 49"/>
          <p:cNvSpPr/>
          <p:nvPr/>
        </p:nvSpPr>
        <p:spPr>
          <a:xfrm>
            <a:off x="685800" y="4691993"/>
            <a:ext cx="7772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Configuración optimizada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 para convergencia rápida y estable con prevención de sobreajuste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65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Resultados del Entrenamiento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964406"/>
            <a:ext cx="80010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D9FF"/>
                </a:solidFill>
              </a:rPr>
              <a:t>Coeficiente de Determinación: R² = 0.9989</a:t>
            </a:r>
            <a:endParaRPr lang="en-US" sz="1397" dirty="0"/>
          </a:p>
        </p:txBody>
      </p:sp>
      <p:sp>
        <p:nvSpPr>
          <p:cNvPr id="5" name="Shape 2"/>
          <p:cNvSpPr/>
          <p:nvPr/>
        </p:nvSpPr>
        <p:spPr>
          <a:xfrm>
            <a:off x="571500" y="1550194"/>
            <a:ext cx="8001000" cy="2450306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" y="1550194"/>
            <a:ext cx="1239748" cy="514350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050256"/>
            <a:ext cx="1239748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550194"/>
            <a:ext cx="1239748" cy="514350"/>
          </a:xfrm>
          <a:prstGeom prst="rect">
            <a:avLst/>
          </a:prstGeom>
          <a:noFill/>
          <a:ln/>
        </p:spPr>
        <p:txBody>
          <a:bodyPr wrap="square" lIns="255143" tIns="170053" rIns="170053" bIns="170053" rtlCol="0" anchor="ctr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Métrica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1811248" y="1550194"/>
            <a:ext cx="1861058" cy="514350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811248" y="2050256"/>
            <a:ext cx="1861058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" name="Text 8"/>
          <p:cNvSpPr/>
          <p:nvPr/>
        </p:nvSpPr>
        <p:spPr>
          <a:xfrm>
            <a:off x="1811248" y="1550194"/>
            <a:ext cx="1861058" cy="5143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Entrenamiento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3672306" y="1550194"/>
            <a:ext cx="1402128" cy="514350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672306" y="2050256"/>
            <a:ext cx="1402128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4" name="Text 11"/>
          <p:cNvSpPr/>
          <p:nvPr/>
        </p:nvSpPr>
        <p:spPr>
          <a:xfrm>
            <a:off x="3672306" y="1550194"/>
            <a:ext cx="1402128" cy="5143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Validación</a:t>
            </a:r>
            <a:endParaRPr lang="en-US" sz="987" dirty="0"/>
          </a:p>
        </p:txBody>
      </p:sp>
      <p:sp>
        <p:nvSpPr>
          <p:cNvPr id="15" name="Shape 12"/>
          <p:cNvSpPr/>
          <p:nvPr/>
        </p:nvSpPr>
        <p:spPr>
          <a:xfrm>
            <a:off x="5074434" y="1550194"/>
            <a:ext cx="1145009" cy="514350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074434" y="2050256"/>
            <a:ext cx="1145009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5074434" y="1550194"/>
            <a:ext cx="1145009" cy="5143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Prueba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6219444" y="1550194"/>
            <a:ext cx="2353056" cy="514350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219444" y="2050256"/>
            <a:ext cx="2353056" cy="142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0" name="Text 17"/>
          <p:cNvSpPr/>
          <p:nvPr/>
        </p:nvSpPr>
        <p:spPr>
          <a:xfrm>
            <a:off x="6219444" y="1550194"/>
            <a:ext cx="2353056" cy="5143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Interpretación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571500" y="2050256"/>
            <a:ext cx="1239748" cy="478631"/>
          </a:xfrm>
          <a:prstGeom prst="rect">
            <a:avLst/>
          </a:prstGeom>
          <a:noFill/>
          <a:ln/>
        </p:spPr>
        <p:txBody>
          <a:bodyPr wrap="square" lIns="255143" tIns="153035" rIns="170053" bIns="153035" rtlCol="0" anchor="ctr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MSE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1811248" y="2050256"/>
            <a:ext cx="1861058" cy="4786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0.000400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3672306" y="2050256"/>
            <a:ext cx="1402128" cy="4786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0.000450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5074434" y="2050256"/>
            <a:ext cx="1145009" cy="4786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E8E8"/>
                </a:solidFill>
              </a:rPr>
              <a:t>0.000435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6219444" y="2050256"/>
            <a:ext cx="2353056" cy="4786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Error cuadrático mínimo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571500" y="2528888"/>
            <a:ext cx="1239748" cy="478631"/>
          </a:xfrm>
          <a:prstGeom prst="rect">
            <a:avLst/>
          </a:prstGeom>
          <a:noFill/>
          <a:ln/>
        </p:spPr>
        <p:txBody>
          <a:bodyPr wrap="square" lIns="255143" tIns="153035" rIns="170053" bIns="153035" rtlCol="0" anchor="ctr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MAE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1811248" y="2528888"/>
            <a:ext cx="1861058" cy="4786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0.015200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3672306" y="2528888"/>
            <a:ext cx="1402128" cy="4786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0.016100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5074434" y="2528888"/>
            <a:ext cx="1145009" cy="4786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E8E8"/>
                </a:solidFill>
              </a:rPr>
              <a:t>0.015800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6219444" y="2528888"/>
            <a:ext cx="2353056" cy="4786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Error absoluto &lt; 2%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571500" y="3007519"/>
            <a:ext cx="1239748" cy="478631"/>
          </a:xfrm>
          <a:prstGeom prst="rect">
            <a:avLst/>
          </a:prstGeom>
          <a:noFill/>
          <a:ln/>
        </p:spPr>
        <p:txBody>
          <a:bodyPr wrap="square" lIns="255143" tIns="153035" rIns="170053" bIns="153035" rtlCol="0" anchor="ctr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RMSE</a:t>
            </a:r>
            <a:endParaRPr lang="en-US" sz="987" dirty="0"/>
          </a:p>
        </p:txBody>
      </p:sp>
      <p:sp>
        <p:nvSpPr>
          <p:cNvPr id="32" name="Text 29"/>
          <p:cNvSpPr/>
          <p:nvPr/>
        </p:nvSpPr>
        <p:spPr>
          <a:xfrm>
            <a:off x="1811248" y="3007519"/>
            <a:ext cx="1861058" cy="4786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0.020000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3672306" y="3007519"/>
            <a:ext cx="1402128" cy="4786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0.021213</a:t>
            </a:r>
            <a:endParaRPr lang="en-US" sz="942" dirty="0"/>
          </a:p>
        </p:txBody>
      </p:sp>
      <p:sp>
        <p:nvSpPr>
          <p:cNvPr id="34" name="Text 31"/>
          <p:cNvSpPr/>
          <p:nvPr/>
        </p:nvSpPr>
        <p:spPr>
          <a:xfrm>
            <a:off x="5074434" y="3007519"/>
            <a:ext cx="1145009" cy="4786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E8E8"/>
                </a:solidFill>
              </a:rPr>
              <a:t>0.020857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6219444" y="3007519"/>
            <a:ext cx="2353056" cy="47863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Desviación estándar baja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571500" y="3486150"/>
            <a:ext cx="1239748" cy="471488"/>
          </a:xfrm>
          <a:prstGeom prst="rect">
            <a:avLst/>
          </a:prstGeom>
          <a:noFill/>
          <a:ln/>
        </p:spPr>
        <p:txBody>
          <a:bodyPr wrap="square" lIns="255143" tIns="153035" rIns="170053" bIns="153035" rtlCol="0" anchor="ctr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R²</a:t>
            </a:r>
            <a:endParaRPr lang="en-US" sz="987" dirty="0"/>
          </a:p>
        </p:txBody>
      </p:sp>
      <p:sp>
        <p:nvSpPr>
          <p:cNvPr id="37" name="Text 34"/>
          <p:cNvSpPr/>
          <p:nvPr/>
        </p:nvSpPr>
        <p:spPr>
          <a:xfrm>
            <a:off x="1811248" y="3486150"/>
            <a:ext cx="1861058" cy="471488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—</a:t>
            </a:r>
            <a:endParaRPr lang="en-US" sz="942" dirty="0"/>
          </a:p>
        </p:txBody>
      </p:sp>
      <p:sp>
        <p:nvSpPr>
          <p:cNvPr id="38" name="Text 35"/>
          <p:cNvSpPr/>
          <p:nvPr/>
        </p:nvSpPr>
        <p:spPr>
          <a:xfrm>
            <a:off x="3672306" y="3486150"/>
            <a:ext cx="1402128" cy="471488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—</a:t>
            </a:r>
            <a:endParaRPr lang="en-US" sz="942" dirty="0"/>
          </a:p>
        </p:txBody>
      </p:sp>
      <p:sp>
        <p:nvSpPr>
          <p:cNvPr id="39" name="Text 36"/>
          <p:cNvSpPr/>
          <p:nvPr/>
        </p:nvSpPr>
        <p:spPr>
          <a:xfrm>
            <a:off x="5074434" y="3486150"/>
            <a:ext cx="1145009" cy="471488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E8E8"/>
                </a:solidFill>
              </a:rPr>
              <a:t>0.9989</a:t>
            </a:r>
            <a:endParaRPr lang="en-US" sz="885" dirty="0"/>
          </a:p>
        </p:txBody>
      </p:sp>
      <p:sp>
        <p:nvSpPr>
          <p:cNvPr id="40" name="Text 37"/>
          <p:cNvSpPr/>
          <p:nvPr/>
        </p:nvSpPr>
        <p:spPr>
          <a:xfrm>
            <a:off x="6219444" y="3486150"/>
            <a:ext cx="2353056" cy="471488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Explica 99.89% de varianza</a:t>
            </a:r>
            <a:endParaRPr lang="en-US" sz="834" dirty="0"/>
          </a:p>
        </p:txBody>
      </p:sp>
      <p:sp>
        <p:nvSpPr>
          <p:cNvPr id="41" name="Text 38"/>
          <p:cNvSpPr/>
          <p:nvPr/>
        </p:nvSpPr>
        <p:spPr>
          <a:xfrm>
            <a:off x="571500" y="4243388"/>
            <a:ext cx="3857625" cy="235744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Análisis de Convergencia</a:t>
            </a:r>
            <a:endParaRPr lang="en-US" sz="1090" dirty="0"/>
          </a:p>
        </p:txBody>
      </p:sp>
      <p:sp>
        <p:nvSpPr>
          <p:cNvPr id="42" name="Text 39"/>
          <p:cNvSpPr/>
          <p:nvPr/>
        </p:nvSpPr>
        <p:spPr>
          <a:xfrm>
            <a:off x="714375" y="4622006"/>
            <a:ext cx="3714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D9FF"/>
                </a:solidFill>
              </a:rPr>
              <a:t>Convergencia exitosa: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 Métricas de entrenamiento y validación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muy cercanas</a:t>
            </a:r>
            <a:endParaRPr lang="en-US" sz="834" dirty="0"/>
          </a:p>
        </p:txBody>
      </p:sp>
      <p:sp>
        <p:nvSpPr>
          <p:cNvPr id="43" name="Text 40"/>
          <p:cNvSpPr/>
          <p:nvPr/>
        </p:nvSpPr>
        <p:spPr>
          <a:xfrm>
            <a:off x="714375" y="5100638"/>
            <a:ext cx="298792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D9FF"/>
                </a:solidFill>
              </a:rPr>
              <a:t>Sin sobreajuste: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 Diferencia mínima entre train y test</a:t>
            </a:r>
            <a:endParaRPr lang="en-US" sz="834" dirty="0"/>
          </a:p>
        </p:txBody>
      </p:sp>
      <p:sp>
        <p:nvSpPr>
          <p:cNvPr id="44" name="Text 41"/>
          <p:cNvSpPr/>
          <p:nvPr/>
        </p:nvSpPr>
        <p:spPr>
          <a:xfrm>
            <a:off x="714375" y="5397103"/>
            <a:ext cx="32813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D9FF"/>
                </a:solidFill>
              </a:rPr>
              <a:t>Alta precisión: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 R² cercano a 1.0 indica ajuste casi perfecto</a:t>
            </a:r>
            <a:endParaRPr lang="en-US" sz="834" dirty="0"/>
          </a:p>
        </p:txBody>
      </p:sp>
      <p:sp>
        <p:nvSpPr>
          <p:cNvPr id="45" name="Text 42"/>
          <p:cNvSpPr/>
          <p:nvPr/>
        </p:nvSpPr>
        <p:spPr>
          <a:xfrm>
            <a:off x="4714875" y="4243388"/>
            <a:ext cx="3857625" cy="235744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Comparación con Función Teórica</a:t>
            </a:r>
            <a:endParaRPr lang="en-US" sz="1090" dirty="0"/>
          </a:p>
        </p:txBody>
      </p:sp>
      <p:sp>
        <p:nvSpPr>
          <p:cNvPr id="46" name="Text 43"/>
          <p:cNvSpPr/>
          <p:nvPr/>
        </p:nvSpPr>
        <p:spPr>
          <a:xfrm>
            <a:off x="4857750" y="4622006"/>
            <a:ext cx="19011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7B2CBF"/>
                </a:solidFill>
              </a:rPr>
              <a:t>Error promedio absoluto: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 0.0158</a:t>
            </a:r>
            <a:endParaRPr lang="en-US" sz="834" dirty="0"/>
          </a:p>
        </p:txBody>
      </p:sp>
      <p:sp>
        <p:nvSpPr>
          <p:cNvPr id="47" name="Text 44"/>
          <p:cNvSpPr/>
          <p:nvPr/>
        </p:nvSpPr>
        <p:spPr>
          <a:xfrm>
            <a:off x="4857750" y="4918472"/>
            <a:ext cx="184269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7B2CBF"/>
                </a:solidFill>
              </a:rPr>
              <a:t>Máximo error observado: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 0.045</a:t>
            </a:r>
            <a:endParaRPr lang="en-US" sz="834" dirty="0"/>
          </a:p>
        </p:txBody>
      </p:sp>
      <p:sp>
        <p:nvSpPr>
          <p:cNvPr id="48" name="Text 45"/>
          <p:cNvSpPr/>
          <p:nvPr/>
        </p:nvSpPr>
        <p:spPr>
          <a:xfrm>
            <a:off x="4857750" y="5214938"/>
            <a:ext cx="299970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7B2CBF"/>
                </a:solidFill>
              </a:rPr>
              <a:t>Distribución de errores: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 Centrada en cero, sin sesgo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Predicciones vs Valores Reales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535781" y="1000125"/>
            <a:ext cx="5357813" cy="3714750"/>
          </a:xfrm>
          <a:prstGeom prst="rect">
            <a:avLst/>
          </a:prstGeom>
          <a:solidFill>
            <a:srgbClr val="FFFFFF">
              <a:alpha val="2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071563"/>
            <a:ext cx="5214938" cy="3571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15063" y="1194792"/>
            <a:ext cx="2428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Análisis Visual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6443663" y="1594842"/>
            <a:ext cx="14471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Datos reales: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 y = x² + ruido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6443663" y="1852017"/>
            <a:ext cx="17602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Predicciones: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 Modelo entrenado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6443663" y="2109192"/>
            <a:ext cx="12072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Función teórica: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 y = x²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6215063" y="2580680"/>
            <a:ext cx="2428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7B2CBF"/>
                </a:solidFill>
              </a:rPr>
              <a:t>Observaciones</a:t>
            </a:r>
            <a:endParaRPr lang="en-US" sz="987" dirty="0"/>
          </a:p>
        </p:txBody>
      </p:sp>
      <p:sp>
        <p:nvSpPr>
          <p:cNvPr id="11" name="Shape 7"/>
          <p:cNvSpPr/>
          <p:nvPr/>
        </p:nvSpPr>
        <p:spPr>
          <a:xfrm>
            <a:off x="6215063" y="2902148"/>
            <a:ext cx="2428875" cy="535781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6215063" y="2902148"/>
            <a:ext cx="21431" cy="53578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9"/>
          <p:cNvSpPr/>
          <p:nvPr/>
        </p:nvSpPr>
        <p:spPr>
          <a:xfrm>
            <a:off x="6322219" y="3009305"/>
            <a:ext cx="22145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Superposición casi perfecta entre predicciones y teoría</a:t>
            </a:r>
            <a:endParaRPr lang="en-US" sz="780" dirty="0"/>
          </a:p>
        </p:txBody>
      </p:sp>
      <p:sp>
        <p:nvSpPr>
          <p:cNvPr id="14" name="Shape 10"/>
          <p:cNvSpPr/>
          <p:nvPr/>
        </p:nvSpPr>
        <p:spPr>
          <a:xfrm>
            <a:off x="6215063" y="3523655"/>
            <a:ext cx="2428875" cy="535781"/>
          </a:xfrm>
          <a:prstGeom prst="rect">
            <a:avLst/>
          </a:prstGeom>
          <a:solidFill>
            <a:srgbClr val="7B2CBF">
              <a:alpha val="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215063" y="3523655"/>
            <a:ext cx="21431" cy="535781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6" name="Text 12"/>
          <p:cNvSpPr/>
          <p:nvPr/>
        </p:nvSpPr>
        <p:spPr>
          <a:xfrm>
            <a:off x="6322219" y="3630811"/>
            <a:ext cx="22145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Residuos distribuidos aleatoriamente alrededor de cero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6215063" y="4145161"/>
            <a:ext cx="2428875" cy="375047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6215063" y="4145161"/>
            <a:ext cx="21431" cy="375047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9" name="Text 15"/>
          <p:cNvSpPr/>
          <p:nvPr/>
        </p:nvSpPr>
        <p:spPr>
          <a:xfrm>
            <a:off x="6322219" y="4252317"/>
            <a:ext cx="22145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MSE: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 0.000435 | 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7B2CBF"/>
                </a:solidFill>
              </a:rPr>
              <a:t>MAE: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 0.015800</a:t>
            </a:r>
            <a:endParaRPr lang="en-US" sz="7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07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285750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Curvas de Aprendizaje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857250"/>
            <a:ext cx="21431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0D9FF"/>
                </a:solidFill>
              </a:rPr>
              <a:t>Análisis de Convergencia</a:t>
            </a:r>
            <a:endParaRPr lang="en-US" sz="1090" dirty="0"/>
          </a:p>
        </p:txBody>
      </p:sp>
      <p:sp>
        <p:nvSpPr>
          <p:cNvPr id="5" name="Shape 2"/>
          <p:cNvSpPr/>
          <p:nvPr/>
        </p:nvSpPr>
        <p:spPr>
          <a:xfrm>
            <a:off x="500063" y="1207294"/>
            <a:ext cx="2143125" cy="471488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00063" y="1207294"/>
            <a:ext cx="21431" cy="4714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Text 4"/>
          <p:cNvSpPr/>
          <p:nvPr/>
        </p:nvSpPr>
        <p:spPr>
          <a:xfrm>
            <a:off x="585788" y="1293019"/>
            <a:ext cx="19716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Descenso rápido en primeras 20 épocas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500063" y="1750219"/>
            <a:ext cx="2143125" cy="471488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00063" y="1750219"/>
            <a:ext cx="21431" cy="47148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7"/>
          <p:cNvSpPr/>
          <p:nvPr/>
        </p:nvSpPr>
        <p:spPr>
          <a:xfrm>
            <a:off x="585788" y="1835944"/>
            <a:ext cx="19716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Convergencia estable después de época 30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500063" y="2293144"/>
            <a:ext cx="2143125" cy="321469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00063" y="2293144"/>
            <a:ext cx="21431" cy="321469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0"/>
          <p:cNvSpPr/>
          <p:nvPr/>
        </p:nvSpPr>
        <p:spPr>
          <a:xfrm>
            <a:off x="585788" y="2378869"/>
            <a:ext cx="19716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Curvas de train y validation paralelas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500063" y="2857500"/>
            <a:ext cx="21431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7B2CBF"/>
                </a:solidFill>
              </a:rPr>
              <a:t>Interpretación</a:t>
            </a:r>
            <a:endParaRPr lang="en-US" sz="1090" dirty="0"/>
          </a:p>
        </p:txBody>
      </p:sp>
      <p:sp>
        <p:nvSpPr>
          <p:cNvPr id="15" name="Shape 12"/>
          <p:cNvSpPr/>
          <p:nvPr/>
        </p:nvSpPr>
        <p:spPr>
          <a:xfrm>
            <a:off x="500063" y="3207544"/>
            <a:ext cx="2143125" cy="451452"/>
          </a:xfrm>
          <a:prstGeom prst="rect">
            <a:avLst/>
          </a:prstGeom>
          <a:solidFill>
            <a:srgbClr val="7B2CBF">
              <a:alpha val="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00063" y="3207544"/>
            <a:ext cx="21431" cy="451452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7" name="Text 14"/>
          <p:cNvSpPr/>
          <p:nvPr/>
        </p:nvSpPr>
        <p:spPr>
          <a:xfrm>
            <a:off x="585788" y="3293269"/>
            <a:ext cx="19716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EarlyStopping: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Detuvo en momento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óptimo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500063" y="3730433"/>
            <a:ext cx="2143125" cy="311451"/>
          </a:xfrm>
          <a:prstGeom prst="rect">
            <a:avLst/>
          </a:prstGeom>
          <a:solidFill>
            <a:srgbClr val="7B2CBF">
              <a:alpha val="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00063" y="3730433"/>
            <a:ext cx="21431" cy="311451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20" name="Text 17"/>
          <p:cNvSpPr/>
          <p:nvPr/>
        </p:nvSpPr>
        <p:spPr>
          <a:xfrm>
            <a:off x="585788" y="3816158"/>
            <a:ext cx="19716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Sin overfitting: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Curvas no divergen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500063" y="4113321"/>
            <a:ext cx="2143125" cy="311451"/>
          </a:xfrm>
          <a:prstGeom prst="rect">
            <a:avLst/>
          </a:prstGeom>
          <a:solidFill>
            <a:srgbClr val="7B2CBF">
              <a:alpha val="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00063" y="4113321"/>
            <a:ext cx="21431" cy="311451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23" name="Text 20"/>
          <p:cNvSpPr/>
          <p:nvPr/>
        </p:nvSpPr>
        <p:spPr>
          <a:xfrm>
            <a:off x="585788" y="4199046"/>
            <a:ext cx="19716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Eficiencia: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~40 de 100 épocas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3339703" y="1140823"/>
            <a:ext cx="4857750" cy="3000375"/>
          </a:xfrm>
          <a:prstGeom prst="rect">
            <a:avLst/>
          </a:prstGeom>
          <a:solidFill>
            <a:srgbClr val="FFFFFF">
              <a:alpha val="2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141" y="1212261"/>
            <a:ext cx="4714875" cy="28575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00063" y="4531928"/>
            <a:ext cx="8143875" cy="689372"/>
          </a:xfrm>
          <a:prstGeom prst="rect">
            <a:avLst/>
          </a:prstGeom>
          <a:solidFill>
            <a:srgbClr val="00D9FF">
              <a:alpha val="3000"/>
            </a:srgbClr>
          </a:solidFill>
          <a:ln w="9144">
            <a:solidFill>
              <a:srgbClr val="00D9FF">
                <a:alpha val="15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85391" y="4646228"/>
            <a:ext cx="69634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7B2CBF"/>
                </a:solidFill>
              </a:rPr>
              <a:t>PÉRDIDA FINAL</a:t>
            </a:r>
            <a:endParaRPr lang="en-US" sz="634" dirty="0"/>
          </a:p>
        </p:txBody>
      </p:sp>
      <p:sp>
        <p:nvSpPr>
          <p:cNvPr id="28" name="Text 24"/>
          <p:cNvSpPr/>
          <p:nvPr/>
        </p:nvSpPr>
        <p:spPr>
          <a:xfrm>
            <a:off x="985391" y="4814106"/>
            <a:ext cx="69634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D9FF"/>
                </a:solidFill>
              </a:rPr>
              <a:t>~0.0004</a:t>
            </a:r>
            <a:endParaRPr lang="en-US" sz="1295" dirty="0"/>
          </a:p>
        </p:txBody>
      </p:sp>
      <p:sp>
        <p:nvSpPr>
          <p:cNvPr id="29" name="Text 25"/>
          <p:cNvSpPr/>
          <p:nvPr/>
        </p:nvSpPr>
        <p:spPr>
          <a:xfrm>
            <a:off x="3180141" y="4646228"/>
            <a:ext cx="5841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7B2CBF"/>
                </a:solidFill>
              </a:rPr>
              <a:t>MAE FINAL</a:t>
            </a:r>
            <a:endParaRPr lang="en-US" sz="634" dirty="0"/>
          </a:p>
        </p:txBody>
      </p:sp>
      <p:sp>
        <p:nvSpPr>
          <p:cNvPr id="30" name="Text 26"/>
          <p:cNvSpPr/>
          <p:nvPr/>
        </p:nvSpPr>
        <p:spPr>
          <a:xfrm>
            <a:off x="3180141" y="4814106"/>
            <a:ext cx="58416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D9FF"/>
                </a:solidFill>
              </a:rPr>
              <a:t>~0.016</a:t>
            </a:r>
            <a:endParaRPr lang="en-US" sz="1295" dirty="0"/>
          </a:p>
        </p:txBody>
      </p:sp>
      <p:sp>
        <p:nvSpPr>
          <p:cNvPr id="31" name="Text 27"/>
          <p:cNvSpPr/>
          <p:nvPr/>
        </p:nvSpPr>
        <p:spPr>
          <a:xfrm>
            <a:off x="5262711" y="4646228"/>
            <a:ext cx="6338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7B2CBF"/>
                </a:solidFill>
              </a:rPr>
              <a:t>MEJOR ÉPOCA</a:t>
            </a:r>
            <a:endParaRPr lang="en-US" sz="634" dirty="0"/>
          </a:p>
        </p:txBody>
      </p:sp>
      <p:sp>
        <p:nvSpPr>
          <p:cNvPr id="32" name="Text 28"/>
          <p:cNvSpPr/>
          <p:nvPr/>
        </p:nvSpPr>
        <p:spPr>
          <a:xfrm>
            <a:off x="5262711" y="4814106"/>
            <a:ext cx="63384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D9FF"/>
                </a:solidFill>
              </a:rPr>
              <a:t>35</a:t>
            </a:r>
            <a:endParaRPr lang="en-US" sz="1295" dirty="0"/>
          </a:p>
        </p:txBody>
      </p:sp>
      <p:sp>
        <p:nvSpPr>
          <p:cNvPr id="33" name="Text 29"/>
          <p:cNvSpPr/>
          <p:nvPr/>
        </p:nvSpPr>
        <p:spPr>
          <a:xfrm>
            <a:off x="7394953" y="4646228"/>
            <a:ext cx="76357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7B2CBF"/>
                </a:solidFill>
              </a:rPr>
              <a:t>ÉPOCAS TOTALES</a:t>
            </a:r>
            <a:endParaRPr lang="en-US" sz="634" dirty="0"/>
          </a:p>
        </p:txBody>
      </p:sp>
      <p:sp>
        <p:nvSpPr>
          <p:cNvPr id="34" name="Text 30"/>
          <p:cNvSpPr/>
          <p:nvPr/>
        </p:nvSpPr>
        <p:spPr>
          <a:xfrm>
            <a:off x="7394953" y="4814106"/>
            <a:ext cx="76357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D9FF"/>
                </a:solidFill>
              </a:rPr>
              <a:t>~40</a:t>
            </a:r>
            <a:endParaRPr lang="en-US" sz="129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591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Clase ModeloCuadratico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000125"/>
            <a:ext cx="444154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0D9FF"/>
                </a:solidFill>
              </a:rPr>
              <a:t>Métodos Principales (6 métodos, 608 líneas)</a:t>
            </a:r>
            <a:endParaRPr lang="en-US" sz="1090" dirty="0"/>
          </a:p>
        </p:txBody>
      </p:sp>
      <p:sp>
        <p:nvSpPr>
          <p:cNvPr id="5" name="Shape 2"/>
          <p:cNvSpPr/>
          <p:nvPr/>
        </p:nvSpPr>
        <p:spPr>
          <a:xfrm>
            <a:off x="500063" y="1364456"/>
            <a:ext cx="4441543" cy="651477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00063" y="1364456"/>
            <a:ext cx="21431" cy="651477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Text 4"/>
          <p:cNvSpPr/>
          <p:nvPr/>
        </p:nvSpPr>
        <p:spPr>
          <a:xfrm>
            <a:off x="614363" y="1450181"/>
            <a:ext cx="42129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generar_datos(n_samples, rango, ruido, seed)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614363" y="1650206"/>
            <a:ext cx="421294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Genera datos sintéticos con validación de parámetros. Retorna arrays numpy de forma (n, 1). Reproducible con semilla fija.</a:t>
            </a:r>
            <a:endParaRPr lang="en-US" sz="727" dirty="0"/>
          </a:p>
        </p:txBody>
      </p:sp>
      <p:sp>
        <p:nvSpPr>
          <p:cNvPr id="9" name="Shape 6"/>
          <p:cNvSpPr/>
          <p:nvPr/>
        </p:nvSpPr>
        <p:spPr>
          <a:xfrm>
            <a:off x="500063" y="2087370"/>
            <a:ext cx="4441543" cy="651477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00063" y="2087370"/>
            <a:ext cx="21431" cy="651477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" name="Text 8"/>
          <p:cNvSpPr/>
          <p:nvPr/>
        </p:nvSpPr>
        <p:spPr>
          <a:xfrm>
            <a:off x="614363" y="2173095"/>
            <a:ext cx="42129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construir_modelo()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614363" y="2373120"/>
            <a:ext cx="421294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Crea arquitectura Sequential de Keras. Compila con Adam, MSE y MAE. Inicialización óptima de pesos.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500063" y="2810284"/>
            <a:ext cx="4441543" cy="651477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00063" y="2810284"/>
            <a:ext cx="21431" cy="651477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614363" y="2896009"/>
            <a:ext cx="42129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entrenar(epochs, batch_size, validation_split, callbacks)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614363" y="3096034"/>
            <a:ext cx="421294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Ejecuta entrenamiento con validación. Callbacks personalizables. Retorna objeto History con métricas.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500063" y="3533198"/>
            <a:ext cx="4441543" cy="651477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00063" y="3533198"/>
            <a:ext cx="21431" cy="651477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9" name="Text 16"/>
          <p:cNvSpPr/>
          <p:nvPr/>
        </p:nvSpPr>
        <p:spPr>
          <a:xfrm>
            <a:off x="614363" y="3618923"/>
            <a:ext cx="42129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predecir(x)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14363" y="3818948"/>
            <a:ext cx="421294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Acepta arrays 1D o 2D. Conversión automática de dimensiones. Retorna predicciones de forma (n, 1).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500063" y="4256112"/>
            <a:ext cx="4441543" cy="651477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00063" y="4256112"/>
            <a:ext cx="21431" cy="651477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3" name="Text 20"/>
          <p:cNvSpPr/>
          <p:nvPr/>
        </p:nvSpPr>
        <p:spPr>
          <a:xfrm>
            <a:off x="614363" y="4341837"/>
            <a:ext cx="42129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guardar_modelo(path_tf, path_pkl)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614363" y="4541862"/>
            <a:ext cx="421294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Guarda en formato TensorFlow (.h5). Serializa con pickle (.pkl). Incluye metadatos del modelo.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500063" y="4979026"/>
            <a:ext cx="4441543" cy="651477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00063" y="4979026"/>
            <a:ext cx="21431" cy="651477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7" name="Text 24"/>
          <p:cNvSpPr/>
          <p:nvPr/>
        </p:nvSpPr>
        <p:spPr>
          <a:xfrm>
            <a:off x="614363" y="5064751"/>
            <a:ext cx="42129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cargar_modelo(path_tf, path_pkl)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614363" y="5264776"/>
            <a:ext cx="421294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Carga desde cualquier formato. Validación de existencia de archivos. Verificación de integridad.</a:t>
            </a:r>
            <a:endParaRPr lang="en-US" sz="727" dirty="0"/>
          </a:p>
        </p:txBody>
      </p:sp>
      <p:sp>
        <p:nvSpPr>
          <p:cNvPr id="29" name="Shape 26"/>
          <p:cNvSpPr/>
          <p:nvPr/>
        </p:nvSpPr>
        <p:spPr>
          <a:xfrm>
            <a:off x="5227355" y="1493658"/>
            <a:ext cx="3000375" cy="3714750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080" y="1579383"/>
            <a:ext cx="2828925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7693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Características del Código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892969"/>
            <a:ext cx="81438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7B2CBF"/>
                </a:solidFill>
              </a:rPr>
              <a:t>Estándares Profesionales y Calidad del Software</a:t>
            </a:r>
            <a:endParaRPr lang="en-US" sz="1090" dirty="0"/>
          </a:p>
        </p:txBody>
      </p:sp>
      <p:sp>
        <p:nvSpPr>
          <p:cNvPr id="5" name="Shape 2"/>
          <p:cNvSpPr/>
          <p:nvPr/>
        </p:nvSpPr>
        <p:spPr>
          <a:xfrm>
            <a:off x="500063" y="1378744"/>
            <a:ext cx="3964781" cy="1588005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1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938" y="1521619"/>
            <a:ext cx="3679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Docstrings Completos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642938" y="1821656"/>
            <a:ext cx="36790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Formato NumPy con secciones estructuradas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642938" y="2039541"/>
            <a:ext cx="3679031" cy="264319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42938" y="2039541"/>
            <a:ext cx="21431" cy="264319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0" name="Text 7"/>
          <p:cNvSpPr/>
          <p:nvPr/>
        </p:nvSpPr>
        <p:spPr>
          <a:xfrm>
            <a:off x="642938" y="2039541"/>
            <a:ext cx="3679031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00D9FF"/>
                </a:solidFill>
              </a:rPr>
              <a:t>Parameters, Returns, Raises, Examples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642938" y="2375297"/>
            <a:ext cx="367903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• Descripción detallada de cada parámetro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• Ejemplos de uso en cada método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• Documentación de excepciones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500063" y="3066762"/>
            <a:ext cx="3964781" cy="1588005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938" y="3209637"/>
            <a:ext cx="3679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Type Hints Completos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642938" y="3509674"/>
            <a:ext cx="36790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Anotaciones de tipo en todas las funciones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642938" y="3727559"/>
            <a:ext cx="3679031" cy="264319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42938" y="3727559"/>
            <a:ext cx="21431" cy="264319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7" name="Text 14"/>
          <p:cNvSpPr/>
          <p:nvPr/>
        </p:nvSpPr>
        <p:spPr>
          <a:xfrm>
            <a:off x="642938" y="3727559"/>
            <a:ext cx="3679031" cy="26431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00D9FF"/>
                </a:solidFill>
              </a:rPr>
              <a:t>def predecir(self, x: np.ndarray) -&gt; np.ndarray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642938" y="4063315"/>
            <a:ext cx="367903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• Claridad en tipos de entrada/salida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• Detección temprana de errores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• Mejor soporte de IDEs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4679156" y="1378744"/>
            <a:ext cx="3964781" cy="1546538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1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2031" y="1521619"/>
            <a:ext cx="3679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Validación Robusta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4822031" y="1821656"/>
            <a:ext cx="36790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Verificación exhaustiva de parámetros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4822031" y="2053828"/>
            <a:ext cx="3679031" cy="70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• Rangos válidos de valores numéricos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• Tipos de datos correctos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• Dimensiones de arrays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• Estados del modelo antes de operaciones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• Existencia de archivos en carga/guardado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4679156" y="3025294"/>
            <a:ext cx="3964781" cy="1406537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1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22031" y="3168169"/>
            <a:ext cx="3679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Manejo de Excepciones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4822031" y="3468207"/>
            <a:ext cx="36790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Mensajes de error claros y específicos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4822031" y="3700379"/>
            <a:ext cx="3679031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• ValueError para parámetros inválidos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• RuntimeError para estados incorrectos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• FileNotFoundError para archivos faltantes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8E8"/>
                </a:solidFill>
              </a:rPr>
              <a:t> • Mensajes informativos para debugging</a:t>
            </a:r>
            <a:endParaRPr lang="en-US" sz="727" dirty="0"/>
          </a:p>
        </p:txBody>
      </p:sp>
      <p:sp>
        <p:nvSpPr>
          <p:cNvPr id="27" name="Shape 24"/>
          <p:cNvSpPr/>
          <p:nvPr/>
        </p:nvSpPr>
        <p:spPr>
          <a:xfrm>
            <a:off x="500063" y="4933373"/>
            <a:ext cx="8143875" cy="1421606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2938" y="5076248"/>
            <a:ext cx="7858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Métricas de Calidad del Código</a:t>
            </a:r>
            <a:endParaRPr lang="en-US" sz="987" dirty="0"/>
          </a:p>
        </p:txBody>
      </p:sp>
      <p:sp>
        <p:nvSpPr>
          <p:cNvPr id="29" name="Shape 26"/>
          <p:cNvSpPr/>
          <p:nvPr/>
        </p:nvSpPr>
        <p:spPr>
          <a:xfrm>
            <a:off x="642938" y="5397717"/>
            <a:ext cx="1485900" cy="785813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42938" y="5397717"/>
            <a:ext cx="1485900" cy="21431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31" name="Text 28"/>
          <p:cNvSpPr/>
          <p:nvPr/>
        </p:nvSpPr>
        <p:spPr>
          <a:xfrm>
            <a:off x="757238" y="5512017"/>
            <a:ext cx="12573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7B2CBF"/>
                </a:solidFill>
              </a:rPr>
              <a:t>LÍNEAS TOTALES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757238" y="5704898"/>
            <a:ext cx="12573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608</a:t>
            </a:r>
            <a:endParaRPr lang="en-US" sz="1602" dirty="0"/>
          </a:p>
        </p:txBody>
      </p:sp>
      <p:sp>
        <p:nvSpPr>
          <p:cNvPr id="33" name="Shape 30"/>
          <p:cNvSpPr/>
          <p:nvPr/>
        </p:nvSpPr>
        <p:spPr>
          <a:xfrm>
            <a:off x="2235994" y="5397717"/>
            <a:ext cx="1485900" cy="785813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2235994" y="5397717"/>
            <a:ext cx="1485900" cy="21431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35" name="Text 32"/>
          <p:cNvSpPr/>
          <p:nvPr/>
        </p:nvSpPr>
        <p:spPr>
          <a:xfrm>
            <a:off x="2350294" y="5512017"/>
            <a:ext cx="12573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7B2CBF"/>
                </a:solidFill>
              </a:rPr>
              <a:t>MÉTODOS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2350294" y="5704898"/>
            <a:ext cx="12573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6</a:t>
            </a:r>
            <a:endParaRPr lang="en-US" sz="1602" dirty="0"/>
          </a:p>
        </p:txBody>
      </p:sp>
      <p:sp>
        <p:nvSpPr>
          <p:cNvPr id="37" name="Shape 34"/>
          <p:cNvSpPr/>
          <p:nvPr/>
        </p:nvSpPr>
        <p:spPr>
          <a:xfrm>
            <a:off x="3829050" y="5397717"/>
            <a:ext cx="1485900" cy="785813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3829050" y="5397717"/>
            <a:ext cx="1485900" cy="21431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39" name="Text 36"/>
          <p:cNvSpPr/>
          <p:nvPr/>
        </p:nvSpPr>
        <p:spPr>
          <a:xfrm>
            <a:off x="3943350" y="5512017"/>
            <a:ext cx="12573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7B2CBF"/>
                </a:solidFill>
              </a:rPr>
              <a:t>DOCSTRINGS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3943350" y="5704898"/>
            <a:ext cx="12573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100%</a:t>
            </a:r>
            <a:endParaRPr lang="en-US" sz="1602" dirty="0"/>
          </a:p>
        </p:txBody>
      </p:sp>
      <p:sp>
        <p:nvSpPr>
          <p:cNvPr id="41" name="Shape 38"/>
          <p:cNvSpPr/>
          <p:nvPr/>
        </p:nvSpPr>
        <p:spPr>
          <a:xfrm>
            <a:off x="5422106" y="5397717"/>
            <a:ext cx="1485900" cy="785813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422106" y="5397717"/>
            <a:ext cx="1485900" cy="21431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43" name="Text 40"/>
          <p:cNvSpPr/>
          <p:nvPr/>
        </p:nvSpPr>
        <p:spPr>
          <a:xfrm>
            <a:off x="5536406" y="5512017"/>
            <a:ext cx="12573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7B2CBF"/>
                </a:solidFill>
              </a:rPr>
              <a:t>TYPE HINTS</a:t>
            </a: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5536406" y="5704898"/>
            <a:ext cx="12573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100%</a:t>
            </a:r>
            <a:endParaRPr lang="en-US" sz="1602" dirty="0"/>
          </a:p>
        </p:txBody>
      </p:sp>
      <p:sp>
        <p:nvSpPr>
          <p:cNvPr id="45" name="Shape 42"/>
          <p:cNvSpPr/>
          <p:nvPr/>
        </p:nvSpPr>
        <p:spPr>
          <a:xfrm>
            <a:off x="7015163" y="5397717"/>
            <a:ext cx="1485900" cy="785813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7015163" y="5397717"/>
            <a:ext cx="1485900" cy="21431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47" name="Text 44"/>
          <p:cNvSpPr/>
          <p:nvPr/>
        </p:nvSpPr>
        <p:spPr>
          <a:xfrm>
            <a:off x="7129463" y="5512017"/>
            <a:ext cx="12573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7B2CBF"/>
                </a:solidFill>
              </a:rPr>
              <a:t>ESTÁNDAR</a:t>
            </a:r>
            <a:endParaRPr lang="en-US" sz="683" dirty="0"/>
          </a:p>
        </p:txBody>
      </p:sp>
      <p:sp>
        <p:nvSpPr>
          <p:cNvPr id="48" name="Text 45"/>
          <p:cNvSpPr/>
          <p:nvPr/>
        </p:nvSpPr>
        <p:spPr>
          <a:xfrm>
            <a:off x="7129463" y="5704898"/>
            <a:ext cx="12573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PEP 8</a:t>
            </a:r>
            <a:endParaRPr lang="en-US" sz="160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7794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Suite de Tests Automatizados </a:t>
            </a:r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7B2CBF"/>
                </a:solidFill>
              </a:rPr>
              <a:t>(Parte 1)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871538"/>
            <a:ext cx="8001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16 Tests en esta Sección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1378744"/>
            <a:ext cx="3875484" cy="2035969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8663" y="1535906"/>
            <a:ext cx="285750" cy="285750"/>
          </a:xfrm>
          <a:prstGeom prst="rect">
            <a:avLst/>
          </a:prstGeom>
          <a:solidFill>
            <a:srgbClr val="00D9FF">
              <a:alpha val="20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8663" y="153590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6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1128713" y="1571625"/>
            <a:ext cx="20482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Tests de Generación de Datos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28663" y="1921669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Forma correcta de arrays (n_samples, 1)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28663" y="2139553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Valores dentro del rango especificado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728663" y="2357438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Relación cuadrática aproximada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28663" y="2575322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Tipo de datos correcto (float32)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728663" y="2793206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Reproducibilidad con semillas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28663" y="3011091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Validación de parámetros inválidos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571500" y="3529013"/>
            <a:ext cx="3875484" cy="2035969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8663" y="1921669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728663" y="2139553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728663" y="2357438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19" name="Text 16"/>
          <p:cNvSpPr/>
          <p:nvPr/>
        </p:nvSpPr>
        <p:spPr>
          <a:xfrm>
            <a:off x="728663" y="2575322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728663" y="2793206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728663" y="3011091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22" name="Shape 19"/>
          <p:cNvSpPr/>
          <p:nvPr/>
        </p:nvSpPr>
        <p:spPr>
          <a:xfrm>
            <a:off x="728663" y="3686175"/>
            <a:ext cx="285750" cy="285750"/>
          </a:xfrm>
          <a:prstGeom prst="rect">
            <a:avLst/>
          </a:prstGeom>
          <a:solidFill>
            <a:srgbClr val="00D9FF">
              <a:alpha val="20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8663" y="368617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6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1128713" y="3721894"/>
            <a:ext cx="23248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Tests de Construcción del Modelo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728663" y="4071938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Creación correcta del modelo Keras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728663" y="4289822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Número y tipo de capas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728663" y="4507706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Unidades por capa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728663" y="4725591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Funciones de activación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728663" y="4943475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Modelo compilado correctamente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728663" y="5161359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Configuración del optimizador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728663" y="4071938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32" name="Text 29"/>
          <p:cNvSpPr/>
          <p:nvPr/>
        </p:nvSpPr>
        <p:spPr>
          <a:xfrm>
            <a:off x="728663" y="4289822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33" name="Text 30"/>
          <p:cNvSpPr/>
          <p:nvPr/>
        </p:nvSpPr>
        <p:spPr>
          <a:xfrm>
            <a:off x="728663" y="4507706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34" name="Text 31"/>
          <p:cNvSpPr/>
          <p:nvPr/>
        </p:nvSpPr>
        <p:spPr>
          <a:xfrm>
            <a:off x="728663" y="4725591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35" name="Text 32"/>
          <p:cNvSpPr/>
          <p:nvPr/>
        </p:nvSpPr>
        <p:spPr>
          <a:xfrm>
            <a:off x="728663" y="4943475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36" name="Text 33"/>
          <p:cNvSpPr/>
          <p:nvPr/>
        </p:nvSpPr>
        <p:spPr>
          <a:xfrm>
            <a:off x="728663" y="5161359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37" name="Shape 34"/>
          <p:cNvSpPr/>
          <p:nvPr/>
        </p:nvSpPr>
        <p:spPr>
          <a:xfrm>
            <a:off x="4697016" y="1378744"/>
            <a:ext cx="3875484" cy="1600200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854178" y="1535906"/>
            <a:ext cx="285750" cy="285750"/>
          </a:xfrm>
          <a:prstGeom prst="rect">
            <a:avLst/>
          </a:prstGeom>
          <a:solidFill>
            <a:srgbClr val="00D9FF">
              <a:alpha val="20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54178" y="153590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4</a:t>
            </a:r>
            <a:endParaRPr lang="en-US" sz="987" dirty="0"/>
          </a:p>
        </p:txBody>
      </p:sp>
      <p:sp>
        <p:nvSpPr>
          <p:cNvPr id="40" name="Text 37"/>
          <p:cNvSpPr/>
          <p:nvPr/>
        </p:nvSpPr>
        <p:spPr>
          <a:xfrm>
            <a:off x="5254228" y="1571625"/>
            <a:ext cx="16464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Tests de Entrenamiento</a:t>
            </a:r>
            <a:endParaRPr lang="en-US" sz="987" dirty="0"/>
          </a:p>
        </p:txBody>
      </p:sp>
      <p:sp>
        <p:nvSpPr>
          <p:cNvPr id="41" name="Text 38"/>
          <p:cNvSpPr/>
          <p:nvPr/>
        </p:nvSpPr>
        <p:spPr>
          <a:xfrm>
            <a:off x="4854178" y="1921669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Validación de requisitos previos</a:t>
            </a:r>
            <a:endParaRPr lang="en-US" sz="780" dirty="0"/>
          </a:p>
        </p:txBody>
      </p:sp>
      <p:sp>
        <p:nvSpPr>
          <p:cNvPr id="42" name="Text 39"/>
          <p:cNvSpPr/>
          <p:nvPr/>
        </p:nvSpPr>
        <p:spPr>
          <a:xfrm>
            <a:off x="4854178" y="2139553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Retorno de objeto History</a:t>
            </a:r>
            <a:endParaRPr lang="en-US" sz="780" dirty="0"/>
          </a:p>
        </p:txBody>
      </p:sp>
      <p:sp>
        <p:nvSpPr>
          <p:cNvPr id="43" name="Text 40"/>
          <p:cNvSpPr/>
          <p:nvPr/>
        </p:nvSpPr>
        <p:spPr>
          <a:xfrm>
            <a:off x="4854178" y="2357438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Reducción de pérdida durante entrenamiento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4854178" y="2575322"/>
            <a:ext cx="3561159" cy="16073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Validación de hiperparámetros</a:t>
            </a:r>
            <a:endParaRPr lang="en-US" sz="780" dirty="0"/>
          </a:p>
        </p:txBody>
      </p:sp>
      <p:sp>
        <p:nvSpPr>
          <p:cNvPr id="45" name="Shape 42"/>
          <p:cNvSpPr/>
          <p:nvPr/>
        </p:nvSpPr>
        <p:spPr>
          <a:xfrm>
            <a:off x="4697016" y="3093244"/>
            <a:ext cx="3875484" cy="1107281"/>
          </a:xfrm>
          <a:prstGeom prst="rect">
            <a:avLst/>
          </a:prstGeom>
          <a:solidFill>
            <a:srgbClr val="7B2CBF">
              <a:alpha val="8000"/>
            </a:srgbClr>
          </a:solidFill>
          <a:ln w="18288">
            <a:solidFill>
              <a:srgbClr val="7B2CBF">
                <a:alpha val="2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54178" y="1921669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47" name="Text 44"/>
          <p:cNvSpPr/>
          <p:nvPr/>
        </p:nvSpPr>
        <p:spPr>
          <a:xfrm>
            <a:off x="4854178" y="2139553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48" name="Text 45"/>
          <p:cNvSpPr/>
          <p:nvPr/>
        </p:nvSpPr>
        <p:spPr>
          <a:xfrm>
            <a:off x="4854178" y="2357438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49" name="Text 46"/>
          <p:cNvSpPr/>
          <p:nvPr/>
        </p:nvSpPr>
        <p:spPr>
          <a:xfrm>
            <a:off x="4854178" y="2575322"/>
            <a:ext cx="774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50" name="Text 47"/>
          <p:cNvSpPr/>
          <p:nvPr/>
        </p:nvSpPr>
        <p:spPr>
          <a:xfrm>
            <a:off x="4911328" y="3307556"/>
            <a:ext cx="34468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16 de 25+</a:t>
            </a:r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8E8E8"/>
                </a:solidFill>
              </a:rPr>
              <a:t> tests completados</a:t>
            </a:r>
            <a:endParaRPr lang="en-US" sz="885" dirty="0"/>
          </a:p>
        </p:txBody>
      </p:sp>
      <p:sp>
        <p:nvSpPr>
          <p:cNvPr id="51" name="Shape 48"/>
          <p:cNvSpPr/>
          <p:nvPr/>
        </p:nvSpPr>
        <p:spPr>
          <a:xfrm>
            <a:off x="4911328" y="3614738"/>
            <a:ext cx="3446859" cy="57150"/>
          </a:xfrm>
          <a:prstGeom prst="rect">
            <a:avLst/>
          </a:prstGeom>
          <a:solidFill>
            <a:srgbClr val="00D9FF">
              <a:alpha val="10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4911328" y="3786188"/>
            <a:ext cx="34468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B2CBF"/>
                </a:solidFill>
              </a:rPr>
              <a:t>Continúa en la siguiente slide →</a:t>
            </a:r>
            <a:endParaRPr lang="en-US" sz="784" dirty="0"/>
          </a:p>
        </p:txBody>
      </p:sp>
      <p:sp>
        <p:nvSpPr>
          <p:cNvPr id="53" name="Shape 50"/>
          <p:cNvSpPr/>
          <p:nvPr/>
        </p:nvSpPr>
        <p:spPr>
          <a:xfrm>
            <a:off x="571500" y="5893594"/>
            <a:ext cx="8001000" cy="471488"/>
          </a:xfrm>
          <a:prstGeom prst="rect">
            <a:avLst/>
          </a:prstGeom>
          <a:solidFill>
            <a:srgbClr val="00D9FF">
              <a:alpha val="3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571500" y="5893594"/>
            <a:ext cx="8001000" cy="14288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55" name="Text 52"/>
          <p:cNvSpPr/>
          <p:nvPr/>
        </p:nvSpPr>
        <p:spPr>
          <a:xfrm>
            <a:off x="714375" y="6036469"/>
            <a:ext cx="7715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Cobertura actual: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8E8"/>
                </a:solidFill>
              </a:rPr>
              <a:t> Generación de datos, construcción del modelo y entrenamiento validados</a:t>
            </a:r>
            <a:endParaRPr lang="en-US" sz="78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8795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Suite de Tests Automatizados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964406"/>
            <a:ext cx="8001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Parte 2: Predicción, Persistencia e Integración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1714500" y="1471613"/>
            <a:ext cx="5715000" cy="1685925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85950" y="1643063"/>
            <a:ext cx="285750" cy="285750"/>
          </a:xfrm>
          <a:prstGeom prst="rect">
            <a:avLst/>
          </a:prstGeom>
          <a:solidFill>
            <a:srgbClr val="00D9FF">
              <a:alpha val="20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85950" y="164306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4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2286000" y="1678781"/>
            <a:ext cx="132460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Tests de Predicción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885950" y="2043113"/>
            <a:ext cx="53721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Forma correcta de salida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1885950" y="2271713"/>
            <a:ext cx="53721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Aproximación razonable a x²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885950" y="2500313"/>
            <a:ext cx="53721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Conversión automática de dimensiones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1885950" y="2728913"/>
            <a:ext cx="53721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Validación de entrada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1714500" y="3271838"/>
            <a:ext cx="5715000" cy="1914525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85950" y="2043113"/>
            <a:ext cx="774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1885950" y="2271713"/>
            <a:ext cx="774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1885950" y="2500313"/>
            <a:ext cx="774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1885950" y="2728913"/>
            <a:ext cx="774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18" name="Shape 15"/>
          <p:cNvSpPr/>
          <p:nvPr/>
        </p:nvSpPr>
        <p:spPr>
          <a:xfrm>
            <a:off x="1885950" y="3443288"/>
            <a:ext cx="285750" cy="285750"/>
          </a:xfrm>
          <a:prstGeom prst="rect">
            <a:avLst/>
          </a:prstGeom>
          <a:solidFill>
            <a:srgbClr val="00D9FF">
              <a:alpha val="20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85950" y="344328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5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2286000" y="3479006"/>
            <a:ext cx="14437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Tests de Persistencia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1885950" y="3843338"/>
            <a:ext cx="53721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Creación de archivos .h5 y .pkl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1885950" y="4071938"/>
            <a:ext cx="53721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Carga correcta desde ambos formatos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1885950" y="4300538"/>
            <a:ext cx="53721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Predicciones idénticas tras carga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1885950" y="4529138"/>
            <a:ext cx="53721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Manejo de errores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1885950" y="4757738"/>
            <a:ext cx="53721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Validación de rutas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1714500" y="5300663"/>
            <a:ext cx="5715000" cy="1000125"/>
          </a:xfrm>
          <a:prstGeom prst="rect">
            <a:avLst/>
          </a:prstGeom>
          <a:solidFill>
            <a:srgbClr val="00D9FF">
              <a:alpha val="3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85950" y="3843338"/>
            <a:ext cx="774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28" name="Text 25"/>
          <p:cNvSpPr/>
          <p:nvPr/>
        </p:nvSpPr>
        <p:spPr>
          <a:xfrm>
            <a:off x="1885950" y="4071938"/>
            <a:ext cx="774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29" name="Text 26"/>
          <p:cNvSpPr/>
          <p:nvPr/>
        </p:nvSpPr>
        <p:spPr>
          <a:xfrm>
            <a:off x="1885950" y="4300538"/>
            <a:ext cx="774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30" name="Text 27"/>
          <p:cNvSpPr/>
          <p:nvPr/>
        </p:nvSpPr>
        <p:spPr>
          <a:xfrm>
            <a:off x="1885950" y="4529138"/>
            <a:ext cx="774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31" name="Text 28"/>
          <p:cNvSpPr/>
          <p:nvPr/>
        </p:nvSpPr>
        <p:spPr>
          <a:xfrm>
            <a:off x="1885950" y="4757738"/>
            <a:ext cx="774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32" name="Shape 29"/>
          <p:cNvSpPr/>
          <p:nvPr/>
        </p:nvSpPr>
        <p:spPr>
          <a:xfrm>
            <a:off x="1885950" y="5472113"/>
            <a:ext cx="285750" cy="285750"/>
          </a:xfrm>
          <a:prstGeom prst="rect">
            <a:avLst/>
          </a:prstGeom>
          <a:solidFill>
            <a:srgbClr val="00D9FF">
              <a:alpha val="20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885950" y="547211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1</a:t>
            </a:r>
            <a:endParaRPr lang="en-US" sz="987" dirty="0"/>
          </a:p>
        </p:txBody>
      </p:sp>
      <p:sp>
        <p:nvSpPr>
          <p:cNvPr id="34" name="Text 31"/>
          <p:cNvSpPr/>
          <p:nvPr/>
        </p:nvSpPr>
        <p:spPr>
          <a:xfrm>
            <a:off x="2286000" y="5507831"/>
            <a:ext cx="134017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Test de Integración</a:t>
            </a:r>
            <a:endParaRPr lang="en-US" sz="987" dirty="0"/>
          </a:p>
        </p:txBody>
      </p:sp>
      <p:sp>
        <p:nvSpPr>
          <p:cNvPr id="35" name="Text 32"/>
          <p:cNvSpPr/>
          <p:nvPr/>
        </p:nvSpPr>
        <p:spPr>
          <a:xfrm>
            <a:off x="1885950" y="5872163"/>
            <a:ext cx="53721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8E8"/>
                </a:solidFill>
              </a:rPr>
              <a:t>Flujo completo funcional end-to-end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571500" y="6450806"/>
            <a:ext cx="8001000" cy="914400"/>
          </a:xfrm>
          <a:prstGeom prst="rect">
            <a:avLst/>
          </a:prstGeom>
          <a:solidFill>
            <a:srgbClr val="7B2CBF">
              <a:alpha val="8000"/>
            </a:srgbClr>
          </a:solidFill>
          <a:ln w="18288">
            <a:solidFill>
              <a:srgbClr val="7B2CBF">
                <a:alpha val="2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885950" y="5872163"/>
            <a:ext cx="774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D9FF"/>
                </a:solidFill>
              </a:rPr>
              <a:t>✓</a:t>
            </a:r>
            <a:endParaRPr lang="en-US" sz="734" dirty="0"/>
          </a:p>
        </p:txBody>
      </p:sp>
      <p:sp>
        <p:nvSpPr>
          <p:cNvPr id="38" name="Text 35"/>
          <p:cNvSpPr/>
          <p:nvPr/>
        </p:nvSpPr>
        <p:spPr>
          <a:xfrm>
            <a:off x="750094" y="6629400"/>
            <a:ext cx="24526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B2CBF"/>
                </a:solidFill>
              </a:rPr>
              <a:t>FRAMEWORK</a:t>
            </a:r>
            <a:endParaRPr lang="en-US" sz="784" dirty="0"/>
          </a:p>
        </p:txBody>
      </p:sp>
      <p:sp>
        <p:nvSpPr>
          <p:cNvPr id="39" name="Text 36"/>
          <p:cNvSpPr/>
          <p:nvPr/>
        </p:nvSpPr>
        <p:spPr>
          <a:xfrm>
            <a:off x="750094" y="6858000"/>
            <a:ext cx="245267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D9FF"/>
                </a:solidFill>
              </a:rPr>
              <a:t>pytest</a:t>
            </a:r>
            <a:endParaRPr lang="en-US" sz="1397" dirty="0"/>
          </a:p>
        </p:txBody>
      </p:sp>
      <p:sp>
        <p:nvSpPr>
          <p:cNvPr id="40" name="Text 37"/>
          <p:cNvSpPr/>
          <p:nvPr/>
        </p:nvSpPr>
        <p:spPr>
          <a:xfrm>
            <a:off x="3345647" y="6629400"/>
            <a:ext cx="24526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B2CBF"/>
                </a:solidFill>
              </a:rPr>
              <a:t>TOTAL TESTS</a:t>
            </a:r>
            <a:endParaRPr lang="en-US" sz="784" dirty="0"/>
          </a:p>
        </p:txBody>
      </p:sp>
      <p:sp>
        <p:nvSpPr>
          <p:cNvPr id="41" name="Text 38"/>
          <p:cNvSpPr/>
          <p:nvPr/>
        </p:nvSpPr>
        <p:spPr>
          <a:xfrm>
            <a:off x="3345647" y="6858000"/>
            <a:ext cx="245267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D9FF"/>
                </a:solidFill>
              </a:rPr>
              <a:t>25+</a:t>
            </a:r>
            <a:endParaRPr lang="en-US" sz="1397" dirty="0"/>
          </a:p>
        </p:txBody>
      </p:sp>
      <p:sp>
        <p:nvSpPr>
          <p:cNvPr id="42" name="Text 39"/>
          <p:cNvSpPr/>
          <p:nvPr/>
        </p:nvSpPr>
        <p:spPr>
          <a:xfrm>
            <a:off x="5941200" y="6629400"/>
            <a:ext cx="24527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B2CBF"/>
                </a:solidFill>
              </a:rPr>
              <a:t>COBERTURA</a:t>
            </a:r>
            <a:endParaRPr lang="en-US" sz="784" dirty="0"/>
          </a:p>
        </p:txBody>
      </p:sp>
      <p:sp>
        <p:nvSpPr>
          <p:cNvPr id="43" name="Text 40"/>
          <p:cNvSpPr/>
          <p:nvPr/>
        </p:nvSpPr>
        <p:spPr>
          <a:xfrm>
            <a:off x="5941200" y="6858000"/>
            <a:ext cx="245270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D9FF"/>
                </a:solidFill>
              </a:rPr>
              <a:t>100%</a:t>
            </a:r>
            <a:endParaRPr lang="en-US" sz="139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99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Logros del Proyecto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571500" y="1178719"/>
            <a:ext cx="1871663" cy="903684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2950" y="1350169"/>
            <a:ext cx="15287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7B2CBF"/>
                </a:solidFill>
              </a:rPr>
              <a:t>PRECISIÓN R²</a:t>
            </a:r>
            <a:endParaRPr lang="en-US" sz="734" dirty="0"/>
          </a:p>
        </p:txBody>
      </p:sp>
      <p:sp>
        <p:nvSpPr>
          <p:cNvPr id="6" name="Text 3"/>
          <p:cNvSpPr/>
          <p:nvPr/>
        </p:nvSpPr>
        <p:spPr>
          <a:xfrm>
            <a:off x="742950" y="1582341"/>
            <a:ext cx="15287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00D9FF"/>
                </a:solidFill>
              </a:rPr>
              <a:t>0.9989</a:t>
            </a:r>
            <a:endParaRPr lang="en-US" sz="2121" dirty="0"/>
          </a:p>
        </p:txBody>
      </p:sp>
      <p:sp>
        <p:nvSpPr>
          <p:cNvPr id="7" name="Shape 4"/>
          <p:cNvSpPr/>
          <p:nvPr/>
        </p:nvSpPr>
        <p:spPr>
          <a:xfrm>
            <a:off x="2614613" y="1178719"/>
            <a:ext cx="1871663" cy="903684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86063" y="1350169"/>
            <a:ext cx="15287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7B2CBF"/>
                </a:solidFill>
              </a:rPr>
              <a:t>LÍNEAS DE CÓDIGO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2786063" y="1582341"/>
            <a:ext cx="15287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00D9FF"/>
                </a:solidFill>
              </a:rPr>
              <a:t>1,800</a:t>
            </a:r>
            <a:endParaRPr lang="en-US" sz="2121" dirty="0"/>
          </a:p>
        </p:txBody>
      </p:sp>
      <p:sp>
        <p:nvSpPr>
          <p:cNvPr id="10" name="Shape 7"/>
          <p:cNvSpPr/>
          <p:nvPr/>
        </p:nvSpPr>
        <p:spPr>
          <a:xfrm>
            <a:off x="4657725" y="1178719"/>
            <a:ext cx="1871663" cy="903684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29175" y="1350169"/>
            <a:ext cx="15287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7B2CBF"/>
                </a:solidFill>
              </a:rPr>
              <a:t>TESTS AUTOMATIZADOS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4829175" y="1582341"/>
            <a:ext cx="15287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00D9FF"/>
                </a:solidFill>
              </a:rPr>
              <a:t>25+</a:t>
            </a:r>
            <a:endParaRPr lang="en-US" sz="2121" dirty="0"/>
          </a:p>
        </p:txBody>
      </p:sp>
      <p:sp>
        <p:nvSpPr>
          <p:cNvPr id="13" name="Shape 10"/>
          <p:cNvSpPr/>
          <p:nvPr/>
        </p:nvSpPr>
        <p:spPr>
          <a:xfrm>
            <a:off x="6700838" y="1178719"/>
            <a:ext cx="1871663" cy="903684"/>
          </a:xfrm>
          <a:prstGeom prst="rect">
            <a:avLst/>
          </a:prstGeom>
          <a:solidFill>
            <a:srgbClr val="00D9FF">
              <a:alpha val="5000"/>
            </a:srgbClr>
          </a:solidFill>
          <a:ln w="18288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72288" y="1350169"/>
            <a:ext cx="15287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7B2CBF"/>
                </a:solidFill>
              </a:rPr>
              <a:t>PARÁMETROS RED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6872288" y="1582341"/>
            <a:ext cx="15287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121" b="1" dirty="0">
                <a:solidFill>
                  <a:srgbClr val="00D9FF"/>
                </a:solidFill>
              </a:rPr>
              <a:t>4,353</a:t>
            </a:r>
            <a:endParaRPr lang="en-US" sz="2121" dirty="0"/>
          </a:p>
        </p:txBody>
      </p:sp>
      <p:sp>
        <p:nvSpPr>
          <p:cNvPr id="16" name="Text 13"/>
          <p:cNvSpPr/>
          <p:nvPr/>
        </p:nvSpPr>
        <p:spPr>
          <a:xfrm>
            <a:off x="571500" y="2411016"/>
            <a:ext cx="80010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D9FF"/>
                </a:solidFill>
              </a:rPr>
              <a:t>Logros Principales</a:t>
            </a:r>
            <a:endParaRPr lang="en-US" sz="1397" dirty="0"/>
          </a:p>
        </p:txBody>
      </p:sp>
      <p:sp>
        <p:nvSpPr>
          <p:cNvPr id="17" name="Shape 14"/>
          <p:cNvSpPr/>
          <p:nvPr/>
        </p:nvSpPr>
        <p:spPr>
          <a:xfrm>
            <a:off x="571500" y="2925366"/>
            <a:ext cx="228600" cy="228600"/>
          </a:xfrm>
          <a:prstGeom prst="rect">
            <a:avLst/>
          </a:prstGeom>
          <a:solidFill>
            <a:srgbClr val="00D9FF">
              <a:alpha val="1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" y="292536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9FF"/>
                </a:solidFill>
              </a:rPr>
              <a:t>✓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28688" y="2925366"/>
            <a:ext cx="454797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FFFFFF"/>
                </a:solidFill>
              </a:rPr>
              <a:t>Implementación exitosa:</a:t>
            </a:r>
            <a:pPr algn="l" indent="0" marL="0">
              <a:lnSpc>
                <a:spcPts val="1600"/>
              </a:lnSpc>
              <a:buNone/>
            </a:pPr>
            <a:r>
              <a:rPr lang="en-US" sz="996" dirty="0">
                <a:solidFill>
                  <a:srgbClr val="E8E8E8"/>
                </a:solidFill>
              </a:rPr>
              <a:t> Red neuronal aproxima y = x² con R² = 0.9989</a:t>
            </a:r>
            <a:endParaRPr lang="en-US" sz="936" dirty="0"/>
          </a:p>
        </p:txBody>
      </p:sp>
      <p:sp>
        <p:nvSpPr>
          <p:cNvPr id="20" name="Shape 17"/>
          <p:cNvSpPr/>
          <p:nvPr/>
        </p:nvSpPr>
        <p:spPr>
          <a:xfrm>
            <a:off x="571500" y="3296841"/>
            <a:ext cx="228600" cy="228600"/>
          </a:xfrm>
          <a:prstGeom prst="rect">
            <a:avLst/>
          </a:prstGeom>
          <a:solidFill>
            <a:srgbClr val="00D9FF">
              <a:alpha val="1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1500" y="3296841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9FF"/>
                </a:solidFill>
              </a:rPr>
              <a:t>✓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28688" y="3296841"/>
            <a:ext cx="437314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FFFFFF"/>
                </a:solidFill>
              </a:rPr>
              <a:t>Código profesional:</a:t>
            </a:r>
            <a:pPr algn="l" indent="0" marL="0">
              <a:lnSpc>
                <a:spcPts val="1600"/>
              </a:lnSpc>
              <a:buNone/>
            </a:pPr>
            <a:r>
              <a:rPr lang="en-US" sz="996" dirty="0">
                <a:solidFill>
                  <a:srgbClr val="E8E8E8"/>
                </a:solidFill>
              </a:rPr>
              <a:t> 1,800 líneas documentadas, modular y testeado</a:t>
            </a:r>
            <a:endParaRPr lang="en-US" sz="936" dirty="0"/>
          </a:p>
        </p:txBody>
      </p:sp>
      <p:sp>
        <p:nvSpPr>
          <p:cNvPr id="23" name="Shape 20"/>
          <p:cNvSpPr/>
          <p:nvPr/>
        </p:nvSpPr>
        <p:spPr>
          <a:xfrm>
            <a:off x="571500" y="3668316"/>
            <a:ext cx="228600" cy="228600"/>
          </a:xfrm>
          <a:prstGeom prst="rect">
            <a:avLst/>
          </a:prstGeom>
          <a:solidFill>
            <a:srgbClr val="00D9FF">
              <a:alpha val="1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1500" y="366831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9FF"/>
                </a:solidFill>
              </a:rPr>
              <a:t>✓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28688" y="3668316"/>
            <a:ext cx="383728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FFFFFF"/>
                </a:solidFill>
              </a:rPr>
              <a:t>Reproducibilidad:</a:t>
            </a:r>
            <a:pPr algn="l" indent="0" marL="0">
              <a:lnSpc>
                <a:spcPts val="1600"/>
              </a:lnSpc>
              <a:buNone/>
            </a:pPr>
            <a:r>
              <a:rPr lang="en-US" sz="996" dirty="0">
                <a:solidFill>
                  <a:srgbClr val="E8E8E8"/>
                </a:solidFill>
              </a:rPr>
              <a:t> Resultados consistentes con semillas fijas</a:t>
            </a:r>
            <a:endParaRPr lang="en-US" sz="936" dirty="0"/>
          </a:p>
        </p:txBody>
      </p:sp>
      <p:sp>
        <p:nvSpPr>
          <p:cNvPr id="26" name="Shape 23"/>
          <p:cNvSpPr/>
          <p:nvPr/>
        </p:nvSpPr>
        <p:spPr>
          <a:xfrm>
            <a:off x="571500" y="4039791"/>
            <a:ext cx="228600" cy="228600"/>
          </a:xfrm>
          <a:prstGeom prst="rect">
            <a:avLst/>
          </a:prstGeom>
          <a:solidFill>
            <a:srgbClr val="00D9FF">
              <a:alpha val="1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1500" y="4039791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9FF"/>
                </a:solidFill>
              </a:rPr>
              <a:t>✓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28688" y="4039791"/>
            <a:ext cx="413358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FFFFFF"/>
                </a:solidFill>
              </a:rPr>
              <a:t>Documentación completa:</a:t>
            </a:r>
            <a:pPr algn="l" indent="0" marL="0">
              <a:lnSpc>
                <a:spcPts val="1600"/>
              </a:lnSpc>
              <a:buNone/>
            </a:pPr>
            <a:r>
              <a:rPr lang="en-US" sz="996" dirty="0">
                <a:solidFill>
                  <a:srgbClr val="E8E8E8"/>
                </a:solidFill>
              </a:rPr>
              <a:t> README, notebook, resumen técnico</a:t>
            </a:r>
            <a:endParaRPr lang="en-US" sz="936" dirty="0"/>
          </a:p>
        </p:txBody>
      </p:sp>
      <p:sp>
        <p:nvSpPr>
          <p:cNvPr id="29" name="Shape 26"/>
          <p:cNvSpPr/>
          <p:nvPr/>
        </p:nvSpPr>
        <p:spPr>
          <a:xfrm>
            <a:off x="571500" y="4411266"/>
            <a:ext cx="228600" cy="228600"/>
          </a:xfrm>
          <a:prstGeom prst="rect">
            <a:avLst/>
          </a:prstGeom>
          <a:solidFill>
            <a:srgbClr val="00D9FF">
              <a:alpha val="15000"/>
            </a:srgbClr>
          </a:solidFill>
          <a:ln w="18288">
            <a:solidFill>
              <a:srgbClr val="00D9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1500" y="441126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9FF"/>
                </a:solidFill>
              </a:rPr>
              <a:t>✓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28688" y="4411266"/>
            <a:ext cx="359665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FFFFFF"/>
                </a:solidFill>
              </a:rPr>
              <a:t>Validación rigurosa:</a:t>
            </a:r>
            <a:pPr algn="l" indent="0" marL="0">
              <a:lnSpc>
                <a:spcPts val="1600"/>
              </a:lnSpc>
              <a:buNone/>
            </a:pPr>
            <a:r>
              <a:rPr lang="en-US" sz="996" dirty="0">
                <a:solidFill>
                  <a:srgbClr val="E8E8E8"/>
                </a:solidFill>
              </a:rPr>
              <a:t> 25+ tests automatizados con pytest</a:t>
            </a:r>
            <a:endParaRPr lang="en-US" sz="936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542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50031"/>
            <a:ext cx="8001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Aprendizajes e Impacto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1000125" y="778669"/>
            <a:ext cx="7143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7B2CBF"/>
                </a:solidFill>
              </a:rPr>
              <a:t>Aprendizajes Clave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1000125" y="1135856"/>
            <a:ext cx="7143750" cy="521494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000125" y="1135856"/>
            <a:ext cx="28575" cy="521494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1214438"/>
            <a:ext cx="68865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FFFFFF"/>
                </a:solidFill>
              </a:rPr>
              <a:t>Diseño de arquitecturas: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 Aprendimos a diseñar redes neuronales para regresión no lineal, seleccionando el número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apropiado de capas, neuronas y funciones de activación.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1000125" y="1714500"/>
            <a:ext cx="7143750" cy="521494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000125" y="1714500"/>
            <a:ext cx="28575" cy="521494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0" name="Text 7"/>
          <p:cNvSpPr/>
          <p:nvPr/>
        </p:nvSpPr>
        <p:spPr>
          <a:xfrm>
            <a:off x="1128713" y="1793081"/>
            <a:ext cx="68865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FFFFFF"/>
                </a:solidFill>
              </a:rPr>
              <a:t>Configuración óptima: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 La configuración de hiperparámetros y callbacks (EarlyStopping, ModelCheckpoint) es crucial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para prevenir sobreajuste y obtener modelos generalizables.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1000125" y="2293144"/>
            <a:ext cx="7143750" cy="521494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000125" y="2293144"/>
            <a:ext cx="28575" cy="521494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3" name="Text 10"/>
          <p:cNvSpPr/>
          <p:nvPr/>
        </p:nvSpPr>
        <p:spPr>
          <a:xfrm>
            <a:off x="1128713" y="2371725"/>
            <a:ext cx="68865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FFFFFF"/>
                </a:solidFill>
              </a:rPr>
              <a:t>Importancia de testing: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 La validación exhaustiva mediante tests automatizados garantiza la robustez y confiabilidad del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código en proyectos de machine learning.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1000125" y="2871788"/>
            <a:ext cx="7143750" cy="521494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00125" y="2871788"/>
            <a:ext cx="28575" cy="521494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6" name="Text 13"/>
          <p:cNvSpPr/>
          <p:nvPr/>
        </p:nvSpPr>
        <p:spPr>
          <a:xfrm>
            <a:off x="1128713" y="2950369"/>
            <a:ext cx="68865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FFFFFF"/>
                </a:solidFill>
              </a:rPr>
              <a:t>Visualización efectiva: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 Las gráficas y métricas bien diseñadas son esenciales para comunicar hallazgos y validar el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comportamiento del modelo.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1000125" y="3450431"/>
            <a:ext cx="7143750" cy="521494"/>
          </a:xfrm>
          <a:prstGeom prst="rect">
            <a:avLst/>
          </a:prstGeom>
          <a:solidFill>
            <a:srgbClr val="7B2CBF">
              <a:alpha val="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000125" y="3450431"/>
            <a:ext cx="28575" cy="521494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9" name="Text 16"/>
          <p:cNvSpPr/>
          <p:nvPr/>
        </p:nvSpPr>
        <p:spPr>
          <a:xfrm>
            <a:off x="1128713" y="3529013"/>
            <a:ext cx="68865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FFFFFF"/>
                </a:solidFill>
              </a:rPr>
              <a:t>Buenas prácticas: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 La aplicación de estándares de ingeniería de software (documentación, modularidad, type hints) </a:t>
            </a:r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eleva la calidad del código de ML.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571500" y="4079081"/>
            <a:ext cx="8001000" cy="1125141"/>
          </a:xfrm>
          <a:prstGeom prst="rect">
            <a:avLst/>
          </a:prstGeom>
          <a:solidFill>
            <a:srgbClr val="00D9FF">
              <a:alpha val="8000"/>
            </a:srgbClr>
          </a:solidFill>
          <a:ln w="18288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1525" y="4207669"/>
            <a:ext cx="76009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0D9FF"/>
                </a:solidFill>
              </a:rPr>
              <a:t>Impacto del Proyecto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771525" y="4500563"/>
            <a:ext cx="760095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Este proyecto trasciende la simple aproximación matemática. Representa un </a:t>
            </a:r>
            <a:pPr algn="ctr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D9FF"/>
                </a:solidFill>
              </a:rPr>
              <a:t>ejercicio completo de ingeniería de ML</a:t>
            </a:r>
            <a:pPr algn="ctr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, desde la </a:t>
            </a:r>
            <a:pPr algn="ctr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concepción hasta la implementación, validación y documentación. El código es un </a:t>
            </a:r>
            <a:pPr algn="ctr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FFFFFF"/>
                </a:solidFill>
              </a:rPr>
              <a:t>activo reutilizable</a:t>
            </a:r>
            <a:pPr algn="ctr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 adaptable a problemas reales, </a:t>
            </a:r>
            <a:pPr algn="ctr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E8E8E8"/>
                </a:solidFill>
              </a:rPr>
              <a:t>demostrando dominio de TensorFlow, Python y metodologías profesionales.</a:t>
            </a:r>
            <a:endParaRPr lang="en-US" sz="8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2025-11-17T23:10:11Z</dcterms:created>
  <dcterms:modified xsi:type="dcterms:W3CDTF">2025-11-17T23:10:11Z</dcterms:modified>
</cp:coreProperties>
</file>